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</p:sldIdLst>
  <p:notesMasterIdLst>
    <p:notesMasterId r:id="rId26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presProps" Target="presProps.xml"/><Relationship Id="rId28" Type="http://schemas.openxmlformats.org/officeDocument/2006/relationships/viewProps" Target="viewProps.xml"/><Relationship Id="rId29" Type="http://schemas.openxmlformats.org/officeDocument/2006/relationships/theme" Target="theme/theme1.xml"/><Relationship Id="rId3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Доход, $K</c:v>
                </c:pt>
              </c:strCache>
            </c:strRef>
          </c:tx>
          <c:spPr>
            <a:solidFill>
              <a:srgbClr val="1B3A5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300" u="none">
                    <a:solidFill>
                      <a:srgbClr val="1B3A5C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Sheet1!$A$2:$A$5</c:f>
              <c:multiLvlStrCache>
                <c:ptCount val="4"/>
                <c:lvl>
                  <c:pt idx="0">
                    <c:v>Кв.1 · MVP</c:v>
                  </c:pt>
                  <c:pt idx="1">
                    <c:v>Кв.2</c:v>
                  </c:pt>
                  <c:pt idx="2">
                    <c:v>Кв.3</c:v>
                  </c:pt>
                  <c:pt idx="3">
                    <c:v>Кв.4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1.5</c:v>
                </c:pt>
                <c:pt idx="1">
                  <c:v>7</c:v>
                </c:pt>
                <c:pt idx="2">
                  <c:v>21</c:v>
                </c:pt>
                <c:pt idx="3">
                  <c:v>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300" u="none">
                  <a:solidFill>
                    <a:srgbClr val="1B3A5C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1" i="0" u="none" strike="noStrike">
                <a:solidFill>
                  <a:srgbClr val="5A5A5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52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image" Target="../media/image-1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image" Target="../media/image-3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image" Target="../media/image-6-6.png"/><Relationship Id="rId7" Type="http://schemas.openxmlformats.org/officeDocument/2006/relationships/image" Target="../media/image-6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image" Target="../media/image-7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image" Target="../media/image-12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image" Target="../media/image-13-5.png"/><Relationship Id="rId6" Type="http://schemas.openxmlformats.org/officeDocument/2006/relationships/image" Target="../media/image-13-6.png"/><Relationship Id="rId7" Type="http://schemas.openxmlformats.org/officeDocument/2006/relationships/image" Target="../media/image-13-7.png"/><Relationship Id="rId8" Type="http://schemas.openxmlformats.org/officeDocument/2006/relationships/image" Target="../media/image-13-8.png"/><Relationship Id="rId9" Type="http://schemas.openxmlformats.org/officeDocument/2006/relationships/image" Target="../media/image-13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image" Target="../media/image-16-5.png"/><Relationship Id="rId6" Type="http://schemas.openxmlformats.org/officeDocument/2006/relationships/image" Target="../media/image-16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image" Target="../media/image-19-5.png"/><Relationship Id="rId6" Type="http://schemas.openxmlformats.org/officeDocument/2006/relationships/image" Target="../media/image-1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5" Type="http://schemas.openxmlformats.org/officeDocument/2006/relationships/image" Target="../media/image-2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image" Target="../media/Slide-24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201168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EduHub</a:t>
            </a:r>
            <a:endParaRPr lang="en-US" sz="7200" dirty="0"/>
          </a:p>
        </p:txBody>
      </p:sp>
      <p:sp>
        <p:nvSpPr>
          <p:cNvPr id="3" name="Text 1"/>
          <p:cNvSpPr/>
          <p:nvPr/>
        </p:nvSpPr>
        <p:spPr>
          <a:xfrm>
            <a:off x="868680" y="3063240"/>
            <a:ext cx="7315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spc="600" kern="0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TAJIKISTAN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914400" y="3794760"/>
            <a:ext cx="292608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914400" y="4023360"/>
            <a:ext cx="77724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«TripAdvisor для образования» — поиск, сравнение</a:t>
            </a:r>
            <a:endParaRPr lang="en-US" sz="18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 честные отзывы об учреждениях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51206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Детские сады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Школы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Центры</a:t>
            </a:r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·  </a:t>
            </a:r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Вузы</a:t>
            </a:r>
            <a:endParaRPr lang="en-US" sz="1500" dirty="0"/>
          </a:p>
        </p:txBody>
      </p:sp>
      <p:pic>
        <p:nvPicPr>
          <p:cNvPr id="7" name="Image 0" descr="./deck_bg/hub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38160" y="1737360"/>
            <a:ext cx="3566160" cy="35661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14400" y="6126480"/>
            <a:ext cx="10058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FA6B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Бизнес-план и концепция  ·  Версия 3.2  ·  Август 2026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Проблема в образовательной системе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6675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Родители тратят дни на поиск. Информация разбросана, честных отзывов нет, учреждения не могут привлечь учеников.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331720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22960" y="248259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7" name="Image 0" descr="./deck_icons/search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618659"/>
            <a:ext cx="294803" cy="29480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36192" y="2441448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Разрозненная информация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36192" y="2752344"/>
            <a:ext cx="5806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ВК, WhatsApp, слухи — единого источника нет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640080" y="3401568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22960" y="355244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2" name="Image 1" descr="./deck_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9023" y="3688507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536192" y="3511296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честных отзывов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1536192" y="3822192"/>
            <a:ext cx="5806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Много фейка, школы хвалят сами себя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4471416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22960" y="4622292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7" name="Image 2" descr="./deck_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4758355"/>
            <a:ext cx="294803" cy="29480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36192" y="4581144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 теряют учеников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36192" y="4892040"/>
            <a:ext cx="5806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Нет эффективного канала привлечения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5541264"/>
            <a:ext cx="6858000" cy="868680"/>
          </a:xfrm>
          <a:prstGeom prst="roundRect">
            <a:avLst>
              <a:gd name="adj" fmla="val 6316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22960" y="5692140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3" descr="./deck_icons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9023" y="5828203"/>
            <a:ext cx="294803" cy="29480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1536192" y="5650992"/>
            <a:ext cx="5806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Скрытые расходы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1536192" y="5961888"/>
            <a:ext cx="5806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Реальная стоимость неизвестна заранее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7772400" y="1371600"/>
            <a:ext cx="3794760" cy="4800600"/>
          </a:xfrm>
          <a:prstGeom prst="roundRect">
            <a:avLst>
              <a:gd name="adj" fmla="val 2410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26" name="Text 20"/>
          <p:cNvSpPr/>
          <p:nvPr/>
        </p:nvSpPr>
        <p:spPr>
          <a:xfrm>
            <a:off x="8046720" y="164592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МАСШТАБ ПРОБЛЕМЫ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8046720" y="2103120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9.5M</a:t>
            </a:r>
            <a:endParaRPr lang="en-US" sz="3400" dirty="0"/>
          </a:p>
        </p:txBody>
      </p:sp>
      <p:sp>
        <p:nvSpPr>
          <p:cNvPr id="28" name="Text 22"/>
          <p:cNvSpPr/>
          <p:nvPr/>
        </p:nvSpPr>
        <p:spPr>
          <a:xfrm>
            <a:off x="8046720" y="2633472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 Таджикистана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8046720" y="3090672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2.5M+</a:t>
            </a:r>
            <a:endParaRPr lang="en-US" sz="3400" dirty="0"/>
          </a:p>
        </p:txBody>
      </p:sp>
      <p:sp>
        <p:nvSpPr>
          <p:cNvPr id="30" name="Text 24"/>
          <p:cNvSpPr/>
          <p:nvPr/>
        </p:nvSpPr>
        <p:spPr>
          <a:xfrm>
            <a:off x="8046720" y="3621024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Потенциальных пользователей</a:t>
            </a:r>
            <a:endParaRPr lang="en-US" sz="1200" dirty="0"/>
          </a:p>
        </p:txBody>
      </p:sp>
      <p:sp>
        <p:nvSpPr>
          <p:cNvPr id="31" name="Text 25"/>
          <p:cNvSpPr/>
          <p:nvPr/>
        </p:nvSpPr>
        <p:spPr>
          <a:xfrm>
            <a:off x="8046720" y="4078224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8 000+</a:t>
            </a:r>
            <a:endParaRPr lang="en-US" sz="3400" dirty="0"/>
          </a:p>
        </p:txBody>
      </p:sp>
      <p:sp>
        <p:nvSpPr>
          <p:cNvPr id="32" name="Text 26"/>
          <p:cNvSpPr/>
          <p:nvPr/>
        </p:nvSpPr>
        <p:spPr>
          <a:xfrm>
            <a:off x="8046720" y="4608576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Учреждений в стране</a:t>
            </a:r>
            <a:endParaRPr lang="en-US" sz="1200" dirty="0"/>
          </a:p>
        </p:txBody>
      </p:sp>
      <p:sp>
        <p:nvSpPr>
          <p:cNvPr id="33" name="Text 27"/>
          <p:cNvSpPr/>
          <p:nvPr/>
        </p:nvSpPr>
        <p:spPr>
          <a:xfrm>
            <a:off x="8046720" y="5065776"/>
            <a:ext cx="32918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3400" dirty="0"/>
          </a:p>
        </p:txBody>
      </p:sp>
      <p:sp>
        <p:nvSpPr>
          <p:cNvPr id="34" name="Text 28"/>
          <p:cNvSpPr/>
          <p:nvPr/>
        </p:nvSpPr>
        <p:spPr>
          <a:xfrm>
            <a:off x="8046720" y="5596128"/>
            <a:ext cx="3291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Конкурентов в нише</a:t>
            </a:r>
            <a:endParaRPr lang="en-US" sz="1200" dirty="0"/>
          </a:p>
        </p:txBody>
      </p:sp>
      <p:sp>
        <p:nvSpPr>
          <p:cNvPr id="35" name="Text 29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6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Решение: доверенное место выбора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собирает всё, что нужно для выбора, в одном месте — и подтверждает это честными отзывами.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574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68680" y="2286000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7" name="Image 0" descr="./deck_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3272" y="245059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017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типы учреждений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68680" y="335584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 детских садов до вузов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8264" y="20574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26864" y="2286000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2" name="Image 1" descr="./deck_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1456" y="245059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626864" y="3017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Верифицированные отзывы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626864" y="335584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реальные родители — это наша защита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8156448" y="2057400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385048" y="2286000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7" name="Image 2" descr="./deck_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49640" y="245059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8385048" y="3017520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 рейтинга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8385048" y="3355848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Честная оценка по всем параметрам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640080" y="4059936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68680" y="4288536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3" descr="./deck_icons/ma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272" y="4453128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868680" y="5020056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Развозка и питание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868680" y="5358384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 информация для сравнения, а не сервис</a:t>
            </a:r>
            <a:endParaRPr lang="en-US" sz="1100" dirty="0"/>
          </a:p>
        </p:txBody>
      </p:sp>
      <p:sp>
        <p:nvSpPr>
          <p:cNvPr id="25" name="Shape 19"/>
          <p:cNvSpPr/>
          <p:nvPr/>
        </p:nvSpPr>
        <p:spPr>
          <a:xfrm>
            <a:off x="4398264" y="4059936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626864" y="4288536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7" name="Image 4" descr="./deck_icons/doll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91456" y="4453128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626864" y="5020056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Прозрачная стоимость</a:t>
            </a:r>
            <a:endParaRPr lang="en-US" sz="1500" dirty="0"/>
          </a:p>
        </p:txBody>
      </p:sp>
      <p:sp>
        <p:nvSpPr>
          <p:cNvPr id="29" name="Text 22"/>
          <p:cNvSpPr/>
          <p:nvPr/>
        </p:nvSpPr>
        <p:spPr>
          <a:xfrm>
            <a:off x="4626864" y="5358384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Вся цена видна заранее, без сюрпризов</a:t>
            </a:r>
            <a:endParaRPr lang="en-US" sz="1100" dirty="0"/>
          </a:p>
        </p:txBody>
      </p:sp>
      <p:sp>
        <p:nvSpPr>
          <p:cNvPr id="30" name="Shape 23"/>
          <p:cNvSpPr/>
          <p:nvPr/>
        </p:nvSpPr>
        <p:spPr>
          <a:xfrm>
            <a:off x="8156448" y="4059936"/>
            <a:ext cx="3538728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AAAAAA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385048" y="4288536"/>
            <a:ext cx="685800" cy="68580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2" name="Image 5" descr="./deck_icons/awar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49640" y="4453128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8385048" y="5020056"/>
            <a:ext cx="30815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mover</a:t>
            </a:r>
            <a:endParaRPr lang="en-US" sz="1500" dirty="0"/>
          </a:p>
        </p:txBody>
      </p:sp>
      <p:sp>
        <p:nvSpPr>
          <p:cNvPr id="34" name="Text 26"/>
          <p:cNvSpPr/>
          <p:nvPr/>
        </p:nvSpPr>
        <p:spPr>
          <a:xfrm>
            <a:off x="8385048" y="5358384"/>
            <a:ext cx="308152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Первые в Таджикистане и СНГ</a:t>
            </a:r>
            <a:endParaRPr lang="en-US" sz="1100" dirty="0"/>
          </a:p>
        </p:txBody>
      </p:sp>
      <p:sp>
        <p:nvSpPr>
          <p:cNvPr id="35" name="Text 27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6" name="Text 28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Полный спектр учреждений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965960"/>
            <a:ext cx="2103120" cy="3977640"/>
          </a:xfrm>
          <a:prstGeom prst="roundRect">
            <a:avLst>
              <a:gd name="adj" fmla="val 434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188720" y="23774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child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30122" y="2618842"/>
            <a:ext cx="523037" cy="52303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1520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Детский сад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731520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1–3 года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1097280" y="4398264"/>
            <a:ext cx="118872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0" name="Text 7"/>
          <p:cNvSpPr/>
          <p:nvPr/>
        </p:nvSpPr>
        <p:spPr>
          <a:xfrm>
            <a:off x="777240" y="4544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Уход, развитие,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3008376" y="1965960"/>
            <a:ext cx="2103120" cy="3977640"/>
          </a:xfrm>
          <a:prstGeom prst="roundRect">
            <a:avLst>
              <a:gd name="adj" fmla="val 434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3557016" y="2377440"/>
            <a:ext cx="1005840" cy="1005840"/>
          </a:xfrm>
          <a:prstGeom prst="ellipse">
            <a:avLst/>
          </a:prstGeom>
          <a:solidFill>
            <a:srgbClr val="0F2438"/>
          </a:solidFill>
          <a:ln/>
        </p:spPr>
        <p:txBody>
          <a:bodyPr/>
          <a:p/>
        </p:txBody>
      </p:sp>
      <p:pic>
        <p:nvPicPr>
          <p:cNvPr id="13" name="Image 1" descr="./deck_icons/book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8418" y="2618842"/>
            <a:ext cx="523037" cy="523037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099816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Дошкольное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3099816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3–7 лет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3465576" y="4398264"/>
            <a:ext cx="1188720" cy="0"/>
          </a:xfrm>
          <a:prstGeom prst="line">
            <a:avLst/>
          </a:prstGeom>
          <a:noFill/>
          <a:ln w="12700">
            <a:solidFill>
              <a:srgbClr val="3A5878"/>
            </a:solidFill>
            <a:prstDash val="solid"/>
          </a:ln>
        </p:spPr>
        <p:txBody>
          <a:bodyPr/>
          <a:p/>
        </p:txBody>
      </p:sp>
      <p:sp>
        <p:nvSpPr>
          <p:cNvPr id="17" name="Text 13"/>
          <p:cNvSpPr/>
          <p:nvPr/>
        </p:nvSpPr>
        <p:spPr>
          <a:xfrm>
            <a:off x="3145536" y="4544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 школе</a:t>
            </a:r>
            <a:endParaRPr lang="en-US" sz="1150" dirty="0"/>
          </a:p>
        </p:txBody>
      </p:sp>
      <p:sp>
        <p:nvSpPr>
          <p:cNvPr id="18" name="Shape 14"/>
          <p:cNvSpPr/>
          <p:nvPr/>
        </p:nvSpPr>
        <p:spPr>
          <a:xfrm>
            <a:off x="5376672" y="1965960"/>
            <a:ext cx="2103120" cy="3977640"/>
          </a:xfrm>
          <a:prstGeom prst="roundRect">
            <a:avLst>
              <a:gd name="adj" fmla="val 434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5925312" y="23774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0" name="Image 2" descr="./deck_icons/school_g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66714" y="2618842"/>
            <a:ext cx="523037" cy="523037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468112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Школа</a:t>
            </a:r>
            <a:endParaRPr lang="en-US" sz="1700" dirty="0"/>
          </a:p>
        </p:txBody>
      </p:sp>
      <p:sp>
        <p:nvSpPr>
          <p:cNvPr id="22" name="Text 17"/>
          <p:cNvSpPr/>
          <p:nvPr/>
        </p:nvSpPr>
        <p:spPr>
          <a:xfrm>
            <a:off x="5468112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7–17 лет</a:t>
            </a:r>
            <a:endParaRPr lang="en-US" sz="1250" dirty="0"/>
          </a:p>
        </p:txBody>
      </p:sp>
      <p:sp>
        <p:nvSpPr>
          <p:cNvPr id="23" name="Shape 18"/>
          <p:cNvSpPr/>
          <p:nvPr/>
        </p:nvSpPr>
        <p:spPr>
          <a:xfrm>
            <a:off x="5833872" y="4398264"/>
            <a:ext cx="118872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4" name="Text 19"/>
          <p:cNvSpPr/>
          <p:nvPr/>
        </p:nvSpPr>
        <p:spPr>
          <a:xfrm>
            <a:off x="5513832" y="4544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Основное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150" dirty="0"/>
          </a:p>
        </p:txBody>
      </p:sp>
      <p:sp>
        <p:nvSpPr>
          <p:cNvPr id="25" name="Shape 20"/>
          <p:cNvSpPr/>
          <p:nvPr/>
        </p:nvSpPr>
        <p:spPr>
          <a:xfrm>
            <a:off x="7744968" y="1965960"/>
            <a:ext cx="2103120" cy="3977640"/>
          </a:xfrm>
          <a:prstGeom prst="roundRect">
            <a:avLst>
              <a:gd name="adj" fmla="val 4348"/>
            </a:avLst>
          </a:prstGeom>
          <a:solidFill>
            <a:srgbClr val="1B3A5C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8293608" y="2377440"/>
            <a:ext cx="1005840" cy="1005840"/>
          </a:xfrm>
          <a:prstGeom prst="ellipse">
            <a:avLst/>
          </a:prstGeom>
          <a:solidFill>
            <a:srgbClr val="0F2438"/>
          </a:solidFill>
          <a:ln/>
        </p:spPr>
        <p:txBody>
          <a:bodyPr/>
          <a:p/>
        </p:txBody>
      </p:sp>
      <p:pic>
        <p:nvPicPr>
          <p:cNvPr id="27" name="Image 3" descr="./deck_icons/paint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35010" y="2618842"/>
            <a:ext cx="523037" cy="523037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7836408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Центры</a:t>
            </a:r>
            <a:endParaRPr lang="en-US" sz="1700" dirty="0"/>
          </a:p>
        </p:txBody>
      </p:sp>
      <p:sp>
        <p:nvSpPr>
          <p:cNvPr id="29" name="Text 23"/>
          <p:cNvSpPr/>
          <p:nvPr/>
        </p:nvSpPr>
        <p:spPr>
          <a:xfrm>
            <a:off x="7836408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любой возраст</a:t>
            </a:r>
            <a:endParaRPr lang="en-US" sz="1250" dirty="0"/>
          </a:p>
        </p:txBody>
      </p:sp>
      <p:sp>
        <p:nvSpPr>
          <p:cNvPr id="30" name="Shape 24"/>
          <p:cNvSpPr/>
          <p:nvPr/>
        </p:nvSpPr>
        <p:spPr>
          <a:xfrm>
            <a:off x="8202168" y="4398264"/>
            <a:ext cx="1188720" cy="0"/>
          </a:xfrm>
          <a:prstGeom prst="line">
            <a:avLst/>
          </a:prstGeom>
          <a:noFill/>
          <a:ln w="12700">
            <a:solidFill>
              <a:srgbClr val="3A5878"/>
            </a:solidFill>
            <a:prstDash val="solid"/>
          </a:ln>
        </p:spPr>
        <p:txBody>
          <a:bodyPr/>
          <a:p/>
        </p:txBody>
      </p:sp>
      <p:sp>
        <p:nvSpPr>
          <p:cNvPr id="31" name="Text 25"/>
          <p:cNvSpPr/>
          <p:nvPr/>
        </p:nvSpPr>
        <p:spPr>
          <a:xfrm>
            <a:off x="7882128" y="4544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Доп.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образование</a:t>
            </a:r>
            <a:endParaRPr lang="en-US" sz="1150" dirty="0"/>
          </a:p>
        </p:txBody>
      </p:sp>
      <p:sp>
        <p:nvSpPr>
          <p:cNvPr id="32" name="Shape 26"/>
          <p:cNvSpPr/>
          <p:nvPr/>
        </p:nvSpPr>
        <p:spPr>
          <a:xfrm>
            <a:off x="10113264" y="1965960"/>
            <a:ext cx="2103120" cy="3977640"/>
          </a:xfrm>
          <a:prstGeom prst="roundRect">
            <a:avLst>
              <a:gd name="adj" fmla="val 4348"/>
            </a:avLst>
          </a:prstGeom>
          <a:solidFill>
            <a:srgbClr val="F2F4F7"/>
          </a:solidFill>
          <a:ln/>
          <a:effectLst>
            <a:outerShdw sx="100000" sy="100000" kx="0" ky="0" algn="bl" rotWithShape="0" blurRad="63500" dist="254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10661904" y="2377440"/>
            <a:ext cx="1005840" cy="10058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4" name="Image 4" descr="./deck_icons/grad_g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903306" y="2618842"/>
            <a:ext cx="523037" cy="523037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0204704" y="3566160"/>
            <a:ext cx="1920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Вузы</a:t>
            </a:r>
            <a:endParaRPr lang="en-US" sz="1700" dirty="0"/>
          </a:p>
        </p:txBody>
      </p:sp>
      <p:sp>
        <p:nvSpPr>
          <p:cNvPr id="36" name="Text 29"/>
          <p:cNvSpPr/>
          <p:nvPr/>
        </p:nvSpPr>
        <p:spPr>
          <a:xfrm>
            <a:off x="10204704" y="397764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18+</a:t>
            </a:r>
            <a:endParaRPr lang="en-US" sz="1250" dirty="0"/>
          </a:p>
        </p:txBody>
      </p:sp>
      <p:sp>
        <p:nvSpPr>
          <p:cNvPr id="37" name="Shape 30"/>
          <p:cNvSpPr/>
          <p:nvPr/>
        </p:nvSpPr>
        <p:spPr>
          <a:xfrm>
            <a:off x="10570464" y="4398264"/>
            <a:ext cx="118872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8" name="Text 31"/>
          <p:cNvSpPr/>
          <p:nvPr/>
        </p:nvSpPr>
        <p:spPr>
          <a:xfrm>
            <a:off x="10250424" y="4544568"/>
            <a:ext cx="18288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Университеты,</a:t>
            </a:r>
            <a:endParaRPr lang="en-US" sz="1150" dirty="0"/>
          </a:p>
          <a:p>
            <a:pPr algn="ctr"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колледжи</a:t>
            </a:r>
            <a:endParaRPr lang="en-US" sz="1150" dirty="0"/>
          </a:p>
        </p:txBody>
      </p:sp>
      <p:sp>
        <p:nvSpPr>
          <p:cNvPr id="39" name="Text 32"/>
          <p:cNvSpPr/>
          <p:nvPr/>
        </p:nvSpPr>
        <p:spPr>
          <a:xfrm>
            <a:off x="640080" y="6126480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Каждый тип имеет собственную структуру информации и отдельные метрики рейтинга.</a:t>
            </a:r>
            <a:endParaRPr lang="en-US" sz="1200" dirty="0"/>
          </a:p>
        </p:txBody>
      </p:sp>
      <p:sp>
        <p:nvSpPr>
          <p:cNvPr id="40" name="Text 33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41" name="Text 34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ТИП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Детский сад (1–3 года)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05740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child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115" y="24304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1–3 года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25196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на платформе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Безопасность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Персонал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Условия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Питание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Развозка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3" name="Image 1" descr="./deck_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48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квалификация, опыт, соотношение к детям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06240" y="2807208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foo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29279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807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наличие, тип, стоимость, халяль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465576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9" name="Image 3" descr="./deck_icons/hear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358627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4655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игры, творчество, программа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06240" y="4123944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4" descr="./deck_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4244645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4123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стоимость, охват районов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206240" y="4782312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5" name="Image 5" descr="./deck_icons/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941" y="490301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20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стоимость, скидки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206240" y="544068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8" name="Image 6" descr="./deck_icons/shiel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941" y="55613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92040" y="5440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охрана, видеонаблюдение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ТИП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Дошкольное образование (3–7 лет)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2E7D9A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05740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book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115" y="24304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3–7 лет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25196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на платформе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Качество подготовки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Персонал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Развозка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Питание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Инклюзивность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3" name="Image 1" descr="./deck_icons/targ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48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Подготовка: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программа, методики, результаты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06240" y="2807208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29279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807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квалификация, опыт, фото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465576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9" name="Image 3" descr="./deck_icons/paint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358627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4655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Кружки: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творчество, спорт, языки, музыка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06240" y="4123944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4" descr="./deck_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4244645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4123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стоимость, охват районов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206240" y="4782312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5" name="Image 5" descr="./deck_icons/foo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941" y="490301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20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наличие, тип, стоимость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206240" y="544068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8" name="Image 6" descr="./deck_icons/st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941" y="55613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92040" y="5440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Развитие: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логопед, психолог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ТИП 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Школы (7–17 лет)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05740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school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115" y="24304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7–17 лет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25196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на платформе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Качество образования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Безопасность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Персонал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Питание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Развозка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Цена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3" name="Image 1" descr="./deck_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48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государственная, русская, IB, Cambridge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06240" y="2807208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29279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807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Учителя: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квалификация, достижения, отзывы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465576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9" name="Image 3" descr="./deck_icons/aw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358627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4655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Кружки и спорт: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тренеры, результаты олимпиад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06240" y="4123944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4" descr="./deck_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4244645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4123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тип, стоимость, охват районов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206240" y="4782312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5" name="Image 5" descr="./deck_icons/foo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941" y="490301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20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Питание: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наличие, тип, стоимость, халяль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206240" y="544068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8" name="Image 6" descr="./deck_icons/doll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941" y="55613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92040" y="5440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Финансы: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 всех услуг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ТИП 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Центры доп. образования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2E7D9A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05740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paint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115" y="24304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все возрасты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25196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на платформе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Качество обучения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Результаты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Педагоги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Материалы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Цена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3" name="Image 1" descr="./deck_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48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Направления: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творчество, спорт, языки, STEM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06240" y="2807208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userTi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29279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807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Специалисты: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тренеры, сертификации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465576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9" name="Image 3" descr="./deck_icons/calend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358627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4655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Расписание: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групповые/индивидуальные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06240" y="4123944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4" descr="./deck_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4244645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4123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Достижения: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выставки, чемпионаты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206240" y="4782312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5" name="Image 5" descr="./deck_icons/map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941" y="490301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20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 ближайших центров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206240" y="544068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8" name="Image 6" descr="./deck_icons/dollar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941" y="55613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92040" y="5440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пакеты, скидки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03 · ТИП 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Высшие учебные заведения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200400" cy="4572000"/>
          </a:xfrm>
          <a:prstGeom prst="roundRect">
            <a:avLst>
              <a:gd name="adj" fmla="val 3429"/>
            </a:avLst>
          </a:prstGeom>
          <a:solidFill>
            <a:srgbClr val="1B3A5C"/>
          </a:solidFill>
          <a:ln/>
          <a:effectLst>
            <a:outerShdw sx="100000" sy="100000" kx="0" ky="0" algn="bl" rotWithShape="0" blurRad="76200" dist="38100" dir="5400000">
              <a:srgbClr val="888888">
                <a:alpha val="25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463040" y="2057400"/>
            <a:ext cx="1554480" cy="155448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grad_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36115" y="2430475"/>
            <a:ext cx="808330" cy="80833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3794760"/>
            <a:ext cx="2834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возраст 18+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1280160" y="4251960"/>
            <a:ext cx="1920240" cy="0"/>
          </a:xfrm>
          <a:prstGeom prst="line">
            <a:avLst/>
          </a:prstGeom>
          <a:noFill/>
          <a:ln w="12700">
            <a:solidFill>
              <a:srgbClr val="FFFFFF">
                <a:alpha val="60000"/>
              </a:srgbClr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822960" y="438912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Рейтинги на платформе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868680" y="4754880"/>
            <a:ext cx="274320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Качество образования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Условия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Трудоустройство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Цена</a:t>
            </a:r>
            <a:endParaRPr lang="en-US" sz="1150" dirty="0"/>
          </a:p>
          <a:p>
            <a:pPr algn="l" indent="0" marL="0">
              <a:spcAft>
                <a:spcPts val="300"/>
              </a:spcAft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★ Исследования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4206240" y="16002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Ключевая информация</a:t>
            </a:r>
            <a:endParaRPr lang="en-US" sz="1600" dirty="0"/>
          </a:p>
        </p:txBody>
      </p:sp>
      <p:sp>
        <p:nvSpPr>
          <p:cNvPr id="12" name="Shape 9"/>
          <p:cNvSpPr/>
          <p:nvPr/>
        </p:nvSpPr>
        <p:spPr>
          <a:xfrm>
            <a:off x="4206240" y="214884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3" name="Image 1" descr="./deck_icons/boo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6941" y="2269541"/>
            <a:ext cx="261518" cy="26151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892040" y="214884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Программы: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специальности, формат обучения</a:t>
            </a:r>
            <a:endParaRPr lang="en-US" sz="1250" dirty="0"/>
          </a:p>
        </p:txBody>
      </p:sp>
      <p:sp>
        <p:nvSpPr>
          <p:cNvPr id="15" name="Shape 11"/>
          <p:cNvSpPr/>
          <p:nvPr/>
        </p:nvSpPr>
        <p:spPr>
          <a:xfrm>
            <a:off x="4206240" y="2807208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6941" y="2927909"/>
            <a:ext cx="261518" cy="261518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4892040" y="2807208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общежитие, стипендии, гранты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4206240" y="3465576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9" name="Image 3" descr="./deck_icons/userTi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26941" y="3586277"/>
            <a:ext cx="261518" cy="261518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892040" y="3465576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Персонал: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профессора, исследователи</a:t>
            </a:r>
            <a:endParaRPr lang="en-US" sz="1250" dirty="0"/>
          </a:p>
        </p:txBody>
      </p:sp>
      <p:sp>
        <p:nvSpPr>
          <p:cNvPr id="21" name="Shape 15"/>
          <p:cNvSpPr/>
          <p:nvPr/>
        </p:nvSpPr>
        <p:spPr>
          <a:xfrm>
            <a:off x="4206240" y="4123944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2" name="Image 4" descr="./deck_icons/serve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26941" y="4244645"/>
            <a:ext cx="261518" cy="26151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4892040" y="4123944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Инфраструктура: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лаборатории, библиотека, спорт</a:t>
            </a:r>
            <a:endParaRPr lang="en-US" sz="1250" dirty="0"/>
          </a:p>
        </p:txBody>
      </p:sp>
      <p:sp>
        <p:nvSpPr>
          <p:cNvPr id="24" name="Shape 17"/>
          <p:cNvSpPr/>
          <p:nvPr/>
        </p:nvSpPr>
        <p:spPr>
          <a:xfrm>
            <a:off x="4206240" y="4782312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5" name="Image 5" descr="./deck_icons/briefcas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326941" y="4903013"/>
            <a:ext cx="261518" cy="261518"/>
          </a:xfrm>
          <a:prstGeom prst="rect">
            <a:avLst/>
          </a:prstGeom>
        </p:spPr>
      </p:pic>
      <p:sp>
        <p:nvSpPr>
          <p:cNvPr id="26" name="Text 18"/>
          <p:cNvSpPr/>
          <p:nvPr/>
        </p:nvSpPr>
        <p:spPr>
          <a:xfrm>
            <a:off x="4892040" y="4782312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Трудоустройство: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партнёры-работодатели</a:t>
            </a:r>
            <a:endParaRPr lang="en-US" sz="1250" dirty="0"/>
          </a:p>
        </p:txBody>
      </p:sp>
      <p:sp>
        <p:nvSpPr>
          <p:cNvPr id="27" name="Shape 19"/>
          <p:cNvSpPr/>
          <p:nvPr/>
        </p:nvSpPr>
        <p:spPr>
          <a:xfrm>
            <a:off x="4206240" y="5440680"/>
            <a:ext cx="502920" cy="50292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8" name="Image 6" descr="./deck_icons/trending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326941" y="5561381"/>
            <a:ext cx="261518" cy="261518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4892040" y="5440680"/>
            <a:ext cx="6675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Перспективы:  </a:t>
            </a:r>
            <a:pPr indent="0" marL="0">
              <a:lnSpc>
                <a:spcPct val="100000"/>
              </a:lnSpc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где работают выпускники</a:t>
            </a:r>
            <a:endParaRPr lang="en-US" sz="1250" dirty="0"/>
          </a:p>
        </p:txBody>
      </p:sp>
      <p:sp>
        <p:nvSpPr>
          <p:cNvPr id="30" name="Text 2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Стороны платформы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MVP платформа связывает две стороны. Соискатели и доска вакансий — во вторую волну.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0116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40080" y="20116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640080" y="2514600"/>
            <a:ext cx="3611880" cy="54864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914400" y="2267712"/>
            <a:ext cx="566928" cy="566928"/>
          </a:xfrm>
          <a:prstGeom prst="ellipse">
            <a:avLst/>
          </a:prstGeom>
          <a:solidFill>
            <a:srgbClr val="1B3A5C"/>
          </a:solidFill>
          <a:ln/>
        </p:spPr>
        <p:txBody>
          <a:bodyPr/>
          <a:p/>
        </p:txBody>
      </p:sp>
      <p:pic>
        <p:nvPicPr>
          <p:cNvPr id="9" name="Image 0" descr="./deck_icons/users_w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0463" y="2403775"/>
            <a:ext cx="294803" cy="294803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1600200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Родители и студенты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1600200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Поиск, сравнение, отзывы, чат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914400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207008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Централизованный поиск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914400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1207008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 2–3 учреждений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914400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1207008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 и отзывы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914400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207008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с директором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914400" y="5486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21" name="Text 18"/>
          <p:cNvSpPr/>
          <p:nvPr/>
        </p:nvSpPr>
        <p:spPr>
          <a:xfrm>
            <a:off x="1051560" y="551383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Бесплатно</a:t>
            </a:r>
            <a:endParaRPr lang="en-US" sz="1150" dirty="0"/>
          </a:p>
        </p:txBody>
      </p:sp>
      <p:sp>
        <p:nvSpPr>
          <p:cNvPr id="22" name="Shape 19"/>
          <p:cNvSpPr/>
          <p:nvPr/>
        </p:nvSpPr>
        <p:spPr>
          <a:xfrm>
            <a:off x="4471416" y="20116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3" name="Shape 20"/>
          <p:cNvSpPr/>
          <p:nvPr/>
        </p:nvSpPr>
        <p:spPr>
          <a:xfrm>
            <a:off x="4471416" y="20116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24" name="Shape 21"/>
          <p:cNvSpPr/>
          <p:nvPr/>
        </p:nvSpPr>
        <p:spPr>
          <a:xfrm>
            <a:off x="4471416" y="2514600"/>
            <a:ext cx="3611880" cy="548640"/>
          </a:xfrm>
          <a:prstGeom prst="rect">
            <a:avLst/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25" name="Shape 22"/>
          <p:cNvSpPr/>
          <p:nvPr/>
        </p:nvSpPr>
        <p:spPr>
          <a:xfrm>
            <a:off x="4745736" y="2267712"/>
            <a:ext cx="566928" cy="566928"/>
          </a:xfrm>
          <a:prstGeom prst="ellipse">
            <a:avLst/>
          </a:prstGeom>
          <a:solidFill>
            <a:srgbClr val="2E7D9A"/>
          </a:solidFill>
          <a:ln/>
        </p:spPr>
        <p:txBody>
          <a:bodyPr/>
          <a:p/>
        </p:txBody>
      </p:sp>
      <p:pic>
        <p:nvPicPr>
          <p:cNvPr id="26" name="Image 1" descr="./deck_icons/home_w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81799" y="2403775"/>
            <a:ext cx="294803" cy="294803"/>
          </a:xfrm>
          <a:prstGeom prst="rect">
            <a:avLst/>
          </a:prstGeom>
        </p:spPr>
      </p:pic>
      <p:sp>
        <p:nvSpPr>
          <p:cNvPr id="27" name="Text 23"/>
          <p:cNvSpPr/>
          <p:nvPr/>
        </p:nvSpPr>
        <p:spPr>
          <a:xfrm>
            <a:off x="5431536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</a:t>
            </a:r>
            <a:endParaRPr lang="en-US" sz="1500" dirty="0"/>
          </a:p>
        </p:txBody>
      </p:sp>
      <p:sp>
        <p:nvSpPr>
          <p:cNvPr id="28" name="Text 24"/>
          <p:cNvSpPr/>
          <p:nvPr/>
        </p:nvSpPr>
        <p:spPr>
          <a:xfrm>
            <a:off x="5431536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Профиль, аналитика, привлечение</a:t>
            </a:r>
            <a:endParaRPr lang="en-US" sz="1050" dirty="0"/>
          </a:p>
        </p:txBody>
      </p:sp>
      <p:sp>
        <p:nvSpPr>
          <p:cNvPr id="29" name="Text 25"/>
          <p:cNvSpPr/>
          <p:nvPr/>
        </p:nvSpPr>
        <p:spPr>
          <a:xfrm>
            <a:off x="4745736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0" name="Text 26"/>
          <p:cNvSpPr/>
          <p:nvPr/>
        </p:nvSpPr>
        <p:spPr>
          <a:xfrm>
            <a:off x="5038344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Профиль с фото и видео</a:t>
            </a:r>
            <a:endParaRPr lang="en-US" sz="1200" dirty="0"/>
          </a:p>
        </p:txBody>
      </p:sp>
      <p:sp>
        <p:nvSpPr>
          <p:cNvPr id="31" name="Text 27"/>
          <p:cNvSpPr/>
          <p:nvPr/>
        </p:nvSpPr>
        <p:spPr>
          <a:xfrm>
            <a:off x="4745736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2" name="Text 28"/>
          <p:cNvSpPr/>
          <p:nvPr/>
        </p:nvSpPr>
        <p:spPr>
          <a:xfrm>
            <a:off x="5038344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 трафика</a:t>
            </a:r>
            <a:endParaRPr lang="en-US" sz="1200" dirty="0"/>
          </a:p>
        </p:txBody>
      </p:sp>
      <p:sp>
        <p:nvSpPr>
          <p:cNvPr id="33" name="Text 29"/>
          <p:cNvSpPr/>
          <p:nvPr/>
        </p:nvSpPr>
        <p:spPr>
          <a:xfrm>
            <a:off x="4745736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4" name="Text 30"/>
          <p:cNvSpPr/>
          <p:nvPr/>
        </p:nvSpPr>
        <p:spPr>
          <a:xfrm>
            <a:off x="5038344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 с родителями</a:t>
            </a:r>
            <a:endParaRPr lang="en-US" sz="1200" dirty="0"/>
          </a:p>
        </p:txBody>
      </p:sp>
      <p:sp>
        <p:nvSpPr>
          <p:cNvPr id="35" name="Text 31"/>
          <p:cNvSpPr/>
          <p:nvPr/>
        </p:nvSpPr>
        <p:spPr>
          <a:xfrm>
            <a:off x="4745736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7D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6" name="Text 32"/>
          <p:cNvSpPr/>
          <p:nvPr/>
        </p:nvSpPr>
        <p:spPr>
          <a:xfrm>
            <a:off x="5038344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репутацией</a:t>
            </a:r>
            <a:endParaRPr lang="en-US" sz="1200" dirty="0"/>
          </a:p>
        </p:txBody>
      </p:sp>
      <p:sp>
        <p:nvSpPr>
          <p:cNvPr id="37" name="Shape 33"/>
          <p:cNvSpPr/>
          <p:nvPr/>
        </p:nvSpPr>
        <p:spPr>
          <a:xfrm>
            <a:off x="4745736" y="5486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38" name="Text 34"/>
          <p:cNvSpPr/>
          <p:nvPr/>
        </p:nvSpPr>
        <p:spPr>
          <a:xfrm>
            <a:off x="4882896" y="551383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· Free / $30 / $100</a:t>
            </a:r>
            <a:endParaRPr lang="en-US" sz="1150" dirty="0"/>
          </a:p>
        </p:txBody>
      </p:sp>
      <p:sp>
        <p:nvSpPr>
          <p:cNvPr id="39" name="Shape 35"/>
          <p:cNvSpPr/>
          <p:nvPr/>
        </p:nvSpPr>
        <p:spPr>
          <a:xfrm>
            <a:off x="8302752" y="2011680"/>
            <a:ext cx="3611880" cy="4160520"/>
          </a:xfrm>
          <a:prstGeom prst="roundRect">
            <a:avLst>
              <a:gd name="adj" fmla="val 2532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40" name="Shape 36"/>
          <p:cNvSpPr/>
          <p:nvPr/>
        </p:nvSpPr>
        <p:spPr>
          <a:xfrm>
            <a:off x="8302752" y="2011680"/>
            <a:ext cx="3611880" cy="1051560"/>
          </a:xfrm>
          <a:prstGeom prst="roundRect">
            <a:avLst>
              <a:gd name="adj" fmla="val 8696"/>
            </a:avLst>
          </a:prstGeom>
          <a:solidFill>
            <a:srgbClr val="5A5A5A"/>
          </a:solidFill>
          <a:ln/>
        </p:spPr>
        <p:txBody>
          <a:bodyPr/>
          <a:p/>
        </p:txBody>
      </p:sp>
      <p:sp>
        <p:nvSpPr>
          <p:cNvPr id="41" name="Shape 37"/>
          <p:cNvSpPr/>
          <p:nvPr/>
        </p:nvSpPr>
        <p:spPr>
          <a:xfrm>
            <a:off x="8302752" y="2514600"/>
            <a:ext cx="3611880" cy="548640"/>
          </a:xfrm>
          <a:prstGeom prst="rect">
            <a:avLst/>
          </a:prstGeom>
          <a:solidFill>
            <a:srgbClr val="5A5A5A"/>
          </a:solidFill>
          <a:ln/>
        </p:spPr>
        <p:txBody>
          <a:bodyPr/>
          <a:p/>
        </p:txBody>
      </p:sp>
      <p:sp>
        <p:nvSpPr>
          <p:cNvPr id="42" name="Shape 38"/>
          <p:cNvSpPr/>
          <p:nvPr/>
        </p:nvSpPr>
        <p:spPr>
          <a:xfrm>
            <a:off x="8577072" y="22677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3" name="Image 2" descr="./deck_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3135" y="2403775"/>
            <a:ext cx="294803" cy="294803"/>
          </a:xfrm>
          <a:prstGeom prst="rect">
            <a:avLst/>
          </a:prstGeom>
        </p:spPr>
      </p:pic>
      <p:sp>
        <p:nvSpPr>
          <p:cNvPr id="44" name="Text 39"/>
          <p:cNvSpPr/>
          <p:nvPr/>
        </p:nvSpPr>
        <p:spPr>
          <a:xfrm>
            <a:off x="9262872" y="2212848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Соискатели</a:t>
            </a:r>
            <a:endParaRPr lang="en-US" sz="1500" dirty="0"/>
          </a:p>
        </p:txBody>
      </p:sp>
      <p:sp>
        <p:nvSpPr>
          <p:cNvPr id="45" name="Text 40"/>
          <p:cNvSpPr/>
          <p:nvPr/>
        </p:nvSpPr>
        <p:spPr>
          <a:xfrm>
            <a:off x="9262872" y="2596896"/>
            <a:ext cx="2514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Вакансии, рейтинг работодателей</a:t>
            </a:r>
            <a:endParaRPr lang="en-US" sz="1050" dirty="0"/>
          </a:p>
        </p:txBody>
      </p:sp>
      <p:sp>
        <p:nvSpPr>
          <p:cNvPr id="46" name="Text 41"/>
          <p:cNvSpPr/>
          <p:nvPr/>
        </p:nvSpPr>
        <p:spPr>
          <a:xfrm>
            <a:off x="8577072" y="32918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7" name="Text 42"/>
          <p:cNvSpPr/>
          <p:nvPr/>
        </p:nvSpPr>
        <p:spPr>
          <a:xfrm>
            <a:off x="8869680" y="329184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Доска вакансий</a:t>
            </a:r>
            <a:endParaRPr lang="en-US" sz="1200" dirty="0"/>
          </a:p>
        </p:txBody>
      </p:sp>
      <p:sp>
        <p:nvSpPr>
          <p:cNvPr id="48" name="Text 43"/>
          <p:cNvSpPr/>
          <p:nvPr/>
        </p:nvSpPr>
        <p:spPr>
          <a:xfrm>
            <a:off x="8577072" y="3840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49" name="Text 44"/>
          <p:cNvSpPr/>
          <p:nvPr/>
        </p:nvSpPr>
        <p:spPr>
          <a:xfrm>
            <a:off x="8869680" y="38404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Отзывы сотрудников</a:t>
            </a:r>
            <a:endParaRPr lang="en-US" sz="1200" dirty="0"/>
          </a:p>
        </p:txBody>
      </p:sp>
      <p:sp>
        <p:nvSpPr>
          <p:cNvPr id="50" name="Text 45"/>
          <p:cNvSpPr/>
          <p:nvPr/>
        </p:nvSpPr>
        <p:spPr>
          <a:xfrm>
            <a:off x="8577072" y="4389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1" name="Text 46"/>
          <p:cNvSpPr/>
          <p:nvPr/>
        </p:nvSpPr>
        <p:spPr>
          <a:xfrm>
            <a:off x="8869680" y="438912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Портфолио и отклики</a:t>
            </a:r>
            <a:endParaRPr lang="en-US" sz="1200" dirty="0"/>
          </a:p>
        </p:txBody>
      </p:sp>
      <p:sp>
        <p:nvSpPr>
          <p:cNvPr id="52" name="Text 47"/>
          <p:cNvSpPr/>
          <p:nvPr/>
        </p:nvSpPr>
        <p:spPr>
          <a:xfrm>
            <a:off x="8577072" y="4937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300" dirty="0"/>
          </a:p>
        </p:txBody>
      </p:sp>
      <p:sp>
        <p:nvSpPr>
          <p:cNvPr id="53" name="Text 48"/>
          <p:cNvSpPr/>
          <p:nvPr/>
        </p:nvSpPr>
        <p:spPr>
          <a:xfrm>
            <a:off x="8869680" y="493776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Контакт с директором</a:t>
            </a:r>
            <a:endParaRPr lang="en-US" sz="1200" dirty="0"/>
          </a:p>
        </p:txBody>
      </p:sp>
      <p:sp>
        <p:nvSpPr>
          <p:cNvPr id="54" name="Shape 49"/>
          <p:cNvSpPr/>
          <p:nvPr/>
        </p:nvSpPr>
        <p:spPr>
          <a:xfrm>
            <a:off x="8577072" y="5486400"/>
            <a:ext cx="3063240" cy="457200"/>
          </a:xfrm>
          <a:prstGeom prst="roundRect">
            <a:avLst>
              <a:gd name="adj" fmla="val 12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55" name="Text 50"/>
          <p:cNvSpPr/>
          <p:nvPr/>
        </p:nvSpPr>
        <p:spPr>
          <a:xfrm>
            <a:off x="8714232" y="5513832"/>
            <a:ext cx="28803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Вторая волна</a:t>
            </a:r>
            <a:endParaRPr lang="en-US" sz="1150" dirty="0"/>
          </a:p>
        </p:txBody>
      </p:sp>
      <p:sp>
        <p:nvSpPr>
          <p:cNvPr id="56" name="Text 51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57" name="Text 52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РОЛЬ 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 для родителей и студентов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2539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6" name="Image 0" descr="./deck_icons/filt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6145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0136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Умный поиск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36192" y="2112264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Фильтры: район, тип, цена, развозка, питание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2784" y="1691640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02539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1" name="Image 1" descr="./deck_icons/gri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727" y="216145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8896" y="180136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Сравнение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68896" y="2112264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учреждения side-by-side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127248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346100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597067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236976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рейтингов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36192" y="3547872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Качество, безопасность, питание, развозка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2784" y="3127248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346100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1" name="Image 3" descr="./deck_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727" y="3597067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68896" y="3236976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Честные отзывы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68896" y="3547872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родители, посещающие учреждение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562856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822960" y="4896612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6" name="Image 4" descr="./deck_icons/messag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3" y="503267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6192" y="4672584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36192" y="4983480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директором без звонков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2784" y="4562856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455664" y="4896612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1" name="Image 5" descr="./deck_icons/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727" y="503267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68896" y="4672584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68896" y="4983480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стоимость всех услуг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05 · РОЛЬ 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Функции для учреждений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22960" y="202539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6" name="Image 0" descr="./deck_icons/ey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9023" y="216145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36192" y="180136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Красивый профиль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536192" y="2112264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Описание, фото, видео, учителя, развозка, питание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272784" y="1691640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455664" y="2025396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1" name="Image 1" descr="./deck_icons/edi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1727" y="216145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68896" y="1801368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7168896" y="2112264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Информация, персонал, финансы, часы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640080" y="3127248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22960" y="346100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b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9023" y="3597067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36192" y="3236976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Аналитика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1536192" y="3547872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Просмотры, источники, клики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6272784" y="3127248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455664" y="3461004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1" name="Image 3" descr="./deck_icons/messag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91727" y="3597067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68896" y="3236976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Чат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68896" y="3547872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 родителями, история разговоров</a:t>
            </a:r>
            <a:endParaRPr lang="en-US" sz="1100" dirty="0"/>
          </a:p>
        </p:txBody>
      </p:sp>
      <p:sp>
        <p:nvSpPr>
          <p:cNvPr id="24" name="Shape 18"/>
          <p:cNvSpPr/>
          <p:nvPr/>
        </p:nvSpPr>
        <p:spPr>
          <a:xfrm>
            <a:off x="640080" y="4562856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822960" y="4896612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6" name="Image 4" descr="./deck_icons/star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59023" y="5032675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536192" y="4672584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Ответы на отзывы</a:t>
            </a:r>
            <a:endParaRPr lang="en-US" sz="1400" dirty="0"/>
          </a:p>
        </p:txBody>
      </p:sp>
      <p:sp>
        <p:nvSpPr>
          <p:cNvPr id="28" name="Text 21"/>
          <p:cNvSpPr/>
          <p:nvPr/>
        </p:nvSpPr>
        <p:spPr>
          <a:xfrm>
            <a:off x="1536192" y="4983480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Управление репутацией</a:t>
            </a:r>
            <a:endParaRPr lang="en-US" sz="1100" dirty="0"/>
          </a:p>
        </p:txBody>
      </p:sp>
      <p:sp>
        <p:nvSpPr>
          <p:cNvPr id="29" name="Shape 22"/>
          <p:cNvSpPr/>
          <p:nvPr/>
        </p:nvSpPr>
        <p:spPr>
          <a:xfrm>
            <a:off x="6272784" y="4562856"/>
            <a:ext cx="5367528" cy="1234440"/>
          </a:xfrm>
          <a:prstGeom prst="roundRect">
            <a:avLst>
              <a:gd name="adj" fmla="val 4444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6455664" y="4896612"/>
            <a:ext cx="566928" cy="566928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1" name="Image 5" descr="./deck_icons/flag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91727" y="5032675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68896" y="4672584"/>
            <a:ext cx="431596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Новости</a:t>
            </a:r>
            <a:endParaRPr lang="en-US" sz="1400" dirty="0"/>
          </a:p>
        </p:txBody>
      </p:sp>
      <p:sp>
        <p:nvSpPr>
          <p:cNvPr id="33" name="Text 25"/>
          <p:cNvSpPr/>
          <p:nvPr/>
        </p:nvSpPr>
        <p:spPr>
          <a:xfrm>
            <a:off x="7168896" y="4983480"/>
            <a:ext cx="4315968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Публикация событий и достижений</a:t>
            </a:r>
            <a:endParaRPr lang="en-US" sz="110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Система рейтинга: 8 метрик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Вместо одной общей оценки — 8 независимых метрик (1–5★). Родитель видит сильные и слабые стороны.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896112" y="2377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./deck_icons/boo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0704" y="2542032"/>
            <a:ext cx="356616" cy="35661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3355848" y="22402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1737360" y="248716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образования</a:t>
            </a:r>
            <a:endParaRPr lang="en-US" sz="1450" dirty="0"/>
          </a:p>
        </p:txBody>
      </p:sp>
      <p:sp>
        <p:nvSpPr>
          <p:cNvPr id="10" name="Shape 7"/>
          <p:cNvSpPr/>
          <p:nvPr/>
        </p:nvSpPr>
        <p:spPr>
          <a:xfrm>
            <a:off x="4398264" y="210312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54296" y="2377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./deck_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18888" y="2542032"/>
            <a:ext cx="356616" cy="35661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114032" y="22402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3000" dirty="0"/>
          </a:p>
        </p:txBody>
      </p:sp>
      <p:sp>
        <p:nvSpPr>
          <p:cNvPr id="14" name="Text 10"/>
          <p:cNvSpPr/>
          <p:nvPr/>
        </p:nvSpPr>
        <p:spPr>
          <a:xfrm>
            <a:off x="5495544" y="248716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 и помещения</a:t>
            </a:r>
            <a:endParaRPr lang="en-US" sz="1450" dirty="0"/>
          </a:p>
        </p:txBody>
      </p:sp>
      <p:sp>
        <p:nvSpPr>
          <p:cNvPr id="15" name="Shape 11"/>
          <p:cNvSpPr/>
          <p:nvPr/>
        </p:nvSpPr>
        <p:spPr>
          <a:xfrm>
            <a:off x="8156448" y="210312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8412480" y="237744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./deck_icons/shiel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7072" y="2542032"/>
            <a:ext cx="356616" cy="356616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0872216" y="224028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3000" dirty="0"/>
          </a:p>
        </p:txBody>
      </p:sp>
      <p:sp>
        <p:nvSpPr>
          <p:cNvPr id="19" name="Text 14"/>
          <p:cNvSpPr/>
          <p:nvPr/>
        </p:nvSpPr>
        <p:spPr>
          <a:xfrm>
            <a:off x="9253728" y="248716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Безопасность</a:t>
            </a:r>
            <a:endParaRPr lang="en-US" sz="1450" dirty="0"/>
          </a:p>
        </p:txBody>
      </p:sp>
      <p:sp>
        <p:nvSpPr>
          <p:cNvPr id="20" name="Shape 15"/>
          <p:cNvSpPr/>
          <p:nvPr/>
        </p:nvSpPr>
        <p:spPr>
          <a:xfrm>
            <a:off x="640080" y="35204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896112" y="37947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./deck_icons/foo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0704" y="3959352"/>
            <a:ext cx="356616" cy="356616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3355848" y="36576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3000" dirty="0"/>
          </a:p>
        </p:txBody>
      </p:sp>
      <p:sp>
        <p:nvSpPr>
          <p:cNvPr id="24" name="Text 18"/>
          <p:cNvSpPr/>
          <p:nvPr/>
        </p:nvSpPr>
        <p:spPr>
          <a:xfrm>
            <a:off x="1737360" y="390448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питания</a:t>
            </a:r>
            <a:endParaRPr lang="en-US" sz="1450" dirty="0"/>
          </a:p>
        </p:txBody>
      </p:sp>
      <p:sp>
        <p:nvSpPr>
          <p:cNvPr id="25" name="Shape 19"/>
          <p:cNvSpPr/>
          <p:nvPr/>
        </p:nvSpPr>
        <p:spPr>
          <a:xfrm>
            <a:off x="4398264" y="35204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6" name="Shape 20"/>
          <p:cNvSpPr/>
          <p:nvPr/>
        </p:nvSpPr>
        <p:spPr>
          <a:xfrm>
            <a:off x="4654296" y="37947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4" descr="./deck_icons/tru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18888" y="3959352"/>
            <a:ext cx="356616" cy="356616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7114032" y="36576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3000" dirty="0"/>
          </a:p>
        </p:txBody>
      </p:sp>
      <p:sp>
        <p:nvSpPr>
          <p:cNvPr id="29" name="Text 22"/>
          <p:cNvSpPr/>
          <p:nvPr/>
        </p:nvSpPr>
        <p:spPr>
          <a:xfrm>
            <a:off x="5495544" y="390448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Качество развозки</a:t>
            </a:r>
            <a:endParaRPr lang="en-US" sz="1450" dirty="0"/>
          </a:p>
        </p:txBody>
      </p:sp>
      <p:sp>
        <p:nvSpPr>
          <p:cNvPr id="30" name="Shape 23"/>
          <p:cNvSpPr/>
          <p:nvPr/>
        </p:nvSpPr>
        <p:spPr>
          <a:xfrm>
            <a:off x="8156448" y="352044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1" name="Shape 24"/>
          <p:cNvSpPr/>
          <p:nvPr/>
        </p:nvSpPr>
        <p:spPr>
          <a:xfrm>
            <a:off x="8412480" y="379476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2" name="Image 5" descr="./deck_icons/dollar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77072" y="3959352"/>
            <a:ext cx="356616" cy="356616"/>
          </a:xfrm>
          <a:prstGeom prst="rect">
            <a:avLst/>
          </a:prstGeom>
        </p:spPr>
      </p:pic>
      <p:sp>
        <p:nvSpPr>
          <p:cNvPr id="33" name="Text 25"/>
          <p:cNvSpPr/>
          <p:nvPr/>
        </p:nvSpPr>
        <p:spPr>
          <a:xfrm>
            <a:off x="10872216" y="365760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3000" dirty="0"/>
          </a:p>
        </p:txBody>
      </p:sp>
      <p:sp>
        <p:nvSpPr>
          <p:cNvPr id="34" name="Text 26"/>
          <p:cNvSpPr/>
          <p:nvPr/>
        </p:nvSpPr>
        <p:spPr>
          <a:xfrm>
            <a:off x="9253728" y="390448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и стоимость</a:t>
            </a:r>
            <a:endParaRPr lang="en-US" sz="1450" dirty="0"/>
          </a:p>
        </p:txBody>
      </p:sp>
      <p:sp>
        <p:nvSpPr>
          <p:cNvPr id="35" name="Shape 27"/>
          <p:cNvSpPr/>
          <p:nvPr/>
        </p:nvSpPr>
        <p:spPr>
          <a:xfrm>
            <a:off x="640080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6" name="Shape 28"/>
          <p:cNvSpPr/>
          <p:nvPr/>
        </p:nvSpPr>
        <p:spPr>
          <a:xfrm>
            <a:off x="896112" y="5212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7" name="Image 6" descr="./deck_icons/users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60704" y="5376672"/>
            <a:ext cx="356616" cy="356616"/>
          </a:xfrm>
          <a:prstGeom prst="rect">
            <a:avLst/>
          </a:prstGeom>
        </p:spPr>
      </p:pic>
      <p:sp>
        <p:nvSpPr>
          <p:cNvPr id="38" name="Text 29"/>
          <p:cNvSpPr/>
          <p:nvPr/>
        </p:nvSpPr>
        <p:spPr>
          <a:xfrm>
            <a:off x="3355848" y="50749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3000" dirty="0"/>
          </a:p>
        </p:txBody>
      </p:sp>
      <p:sp>
        <p:nvSpPr>
          <p:cNvPr id="39" name="Text 30"/>
          <p:cNvSpPr/>
          <p:nvPr/>
        </p:nvSpPr>
        <p:spPr>
          <a:xfrm>
            <a:off x="1737360" y="532180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родителей</a:t>
            </a:r>
            <a:endParaRPr lang="en-US" sz="1450" dirty="0"/>
          </a:p>
        </p:txBody>
      </p:sp>
      <p:sp>
        <p:nvSpPr>
          <p:cNvPr id="40" name="Shape 31"/>
          <p:cNvSpPr/>
          <p:nvPr/>
        </p:nvSpPr>
        <p:spPr>
          <a:xfrm>
            <a:off x="4398264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41" name="Shape 32"/>
          <p:cNvSpPr/>
          <p:nvPr/>
        </p:nvSpPr>
        <p:spPr>
          <a:xfrm>
            <a:off x="4654296" y="5212080"/>
            <a:ext cx="685800" cy="68580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42" name="Image 7" descr="./deck_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818888" y="5376672"/>
            <a:ext cx="356616" cy="356616"/>
          </a:xfrm>
          <a:prstGeom prst="rect">
            <a:avLst/>
          </a:prstGeom>
        </p:spPr>
      </p:pic>
      <p:sp>
        <p:nvSpPr>
          <p:cNvPr id="43" name="Text 33"/>
          <p:cNvSpPr/>
          <p:nvPr/>
        </p:nvSpPr>
        <p:spPr>
          <a:xfrm>
            <a:off x="7114032" y="50749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D5DCE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3000" dirty="0"/>
          </a:p>
        </p:txBody>
      </p:sp>
      <p:sp>
        <p:nvSpPr>
          <p:cNvPr id="44" name="Text 34"/>
          <p:cNvSpPr/>
          <p:nvPr/>
        </p:nvSpPr>
        <p:spPr>
          <a:xfrm>
            <a:off x="5495544" y="532180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Инклюзивность</a:t>
            </a:r>
            <a:endParaRPr lang="en-US" sz="1450" dirty="0"/>
          </a:p>
        </p:txBody>
      </p:sp>
      <p:sp>
        <p:nvSpPr>
          <p:cNvPr id="45" name="Shape 35"/>
          <p:cNvSpPr/>
          <p:nvPr/>
        </p:nvSpPr>
        <p:spPr>
          <a:xfrm>
            <a:off x="8156448" y="4937760"/>
            <a:ext cx="3538728" cy="1234440"/>
          </a:xfrm>
          <a:prstGeom prst="roundRect">
            <a:avLst>
              <a:gd name="adj" fmla="val 5926"/>
            </a:avLst>
          </a:prstGeom>
          <a:solidFill>
            <a:srgbClr val="C9A227"/>
          </a:solidFill>
          <a:ln w="9525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46" name="Shape 36"/>
          <p:cNvSpPr/>
          <p:nvPr/>
        </p:nvSpPr>
        <p:spPr>
          <a:xfrm>
            <a:off x="8412480" y="5212080"/>
            <a:ext cx="685800" cy="685800"/>
          </a:xfrm>
          <a:prstGeom prst="ellipse">
            <a:avLst/>
          </a:prstGeom>
          <a:solidFill>
            <a:srgbClr val="B8941F"/>
          </a:solidFill>
          <a:ln/>
        </p:spPr>
        <p:txBody>
          <a:bodyPr/>
          <a:p/>
        </p:txBody>
      </p:sp>
      <p:pic>
        <p:nvPicPr>
          <p:cNvPr id="47" name="Image 8" descr="./deck_icons/star_w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577072" y="5376672"/>
            <a:ext cx="356616" cy="356616"/>
          </a:xfrm>
          <a:prstGeom prst="rect">
            <a:avLst/>
          </a:prstGeom>
        </p:spPr>
      </p:pic>
      <p:sp>
        <p:nvSpPr>
          <p:cNvPr id="48" name="Text 37"/>
          <p:cNvSpPr/>
          <p:nvPr/>
        </p:nvSpPr>
        <p:spPr>
          <a:xfrm>
            <a:off x="10872216" y="5074920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Ø</a:t>
            </a:r>
            <a:endParaRPr lang="en-US" sz="3000" dirty="0"/>
          </a:p>
        </p:txBody>
      </p:sp>
      <p:sp>
        <p:nvSpPr>
          <p:cNvPr id="49" name="Text 38"/>
          <p:cNvSpPr/>
          <p:nvPr/>
        </p:nvSpPr>
        <p:spPr>
          <a:xfrm>
            <a:off x="9253728" y="5321808"/>
            <a:ext cx="2258568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Общий рейтинг</a:t>
            </a:r>
            <a:endParaRPr lang="en-US" sz="1450" dirty="0"/>
          </a:p>
        </p:txBody>
      </p:sp>
      <p:sp>
        <p:nvSpPr>
          <p:cNvPr id="50" name="Text 39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51" name="Text 4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Чем мы отличаемся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367528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60120" y="192024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6" name="Image 0" descr="./deck_icons/che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68603" y="2128723"/>
            <a:ext cx="451714" cy="45171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057400" y="1965960"/>
            <a:ext cx="3721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Верифицированные отзывы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1005840" y="2834640"/>
            <a:ext cx="4636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Только реальные родители с подтверждённой связью. Модерация перед публикацией. Это то, чего не даёт ни Google, ни соцсети.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272784" y="1600200"/>
            <a:ext cx="5367528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6592824" y="192024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1" name="Image 1" descr="./deck_icons/st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01307" y="2128723"/>
            <a:ext cx="451714" cy="45171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690104" y="1965960"/>
            <a:ext cx="3721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 рейтинга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638544" y="2834640"/>
            <a:ext cx="4636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 одна общая звезда, а честная оценка по качеству, безопасности, питанию, развозке и цене — раздельно.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40080" y="4069080"/>
            <a:ext cx="5367528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960120" y="438912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m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8603" y="4597603"/>
            <a:ext cx="451714" cy="45171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2057400" y="4434840"/>
            <a:ext cx="3721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Развозка и питание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1005840" y="5303520"/>
            <a:ext cx="4636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Собраны в профиле как информация для сравнения: есть ли, какого типа и сколько стоит. Родителю это важно при выборе.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6272784" y="4069080"/>
            <a:ext cx="5367528" cy="2240280"/>
          </a:xfrm>
          <a:prstGeom prst="roundRect">
            <a:avLst>
              <a:gd name="adj" fmla="val 3673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6592824" y="4389120"/>
            <a:ext cx="868680" cy="8686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1" name="Image 3" descr="./deck_icons/doll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01307" y="4597603"/>
            <a:ext cx="451714" cy="45171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690104" y="4434840"/>
            <a:ext cx="372160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Полная прозрачность</a:t>
            </a:r>
            <a:endParaRPr lang="en-US" sz="1700" dirty="0"/>
          </a:p>
        </p:txBody>
      </p:sp>
      <p:sp>
        <p:nvSpPr>
          <p:cNvPr id="23" name="Text 17"/>
          <p:cNvSpPr/>
          <p:nvPr/>
        </p:nvSpPr>
        <p:spPr>
          <a:xfrm>
            <a:off x="6638544" y="5303520"/>
            <a:ext cx="4636008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Обучение, развозка, питание, кружки — суммарная стоимость видна сразу. Без скрытых платежей.</a:t>
            </a:r>
            <a:endParaRPr lang="en-US" sz="1150" dirty="0"/>
          </a:p>
        </p:txBody>
      </p:sp>
      <p:sp>
        <p:nvSpPr>
          <p:cNvPr id="24" name="Text 18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25" name="Text 1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08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Адаптация к менталитету Таджикистана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КУЛЬТУРНАЯ ОСОБЕННОСТЬ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400800" y="1600200"/>
            <a:ext cx="5120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1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НАШЕ РЕШЕНИЕ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" y="2011680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8680" y="2011680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Доверие рекомендациям знакомых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742432" y="2212848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5742432" y="2185416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355080" y="2011680"/>
            <a:ext cx="5166360" cy="868680"/>
          </a:xfrm>
          <a:prstGeom prst="roundRect">
            <a:avLst>
              <a:gd name="adj" fmla="val 736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583680" y="2011680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Реферальная система: «3 друга рекомендуют»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" y="3035808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68680" y="3035808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Цена — критический фактор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742432" y="3236976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742432" y="3209544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6355080" y="3035808"/>
            <a:ext cx="5166360" cy="868680"/>
          </a:xfrm>
          <a:prstGeom prst="roundRect">
            <a:avLst>
              <a:gd name="adj" fmla="val 736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6583680" y="3035808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Калькулятор полной месячной стоимости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40080" y="4059936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868680" y="4059936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Развозку часто ищут сами родители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742432" y="4261104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5742432" y="4233672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2" name="Shape 20"/>
          <p:cNvSpPr/>
          <p:nvPr/>
        </p:nvSpPr>
        <p:spPr>
          <a:xfrm>
            <a:off x="6355080" y="4059936"/>
            <a:ext cx="5166360" cy="868680"/>
          </a:xfrm>
          <a:prstGeom prst="roundRect">
            <a:avLst>
              <a:gd name="adj" fmla="val 736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6583680" y="4059936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Информация о развозке + доска района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5084064"/>
            <a:ext cx="4937760" cy="868680"/>
          </a:xfrm>
          <a:prstGeom prst="roundRect">
            <a:avLst>
              <a:gd name="adj" fmla="val 7368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68680" y="5084064"/>
            <a:ext cx="457200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ВК и WhatsApp — главные каналы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5742432" y="5285232"/>
            <a:ext cx="457200" cy="457200"/>
          </a:xfrm>
          <a:prstGeom prst="ellipse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7" name="Text 25"/>
          <p:cNvSpPr/>
          <p:nvPr/>
        </p:nvSpPr>
        <p:spPr>
          <a:xfrm>
            <a:off x="5742432" y="525780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6355080" y="5084064"/>
            <a:ext cx="5166360" cy="868680"/>
          </a:xfrm>
          <a:prstGeom prst="roundRect">
            <a:avLst>
              <a:gd name="adj" fmla="val 7368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29" name="Text 27"/>
          <p:cNvSpPr/>
          <p:nvPr/>
        </p:nvSpPr>
        <p:spPr>
          <a:xfrm>
            <a:off x="6583680" y="5084064"/>
            <a:ext cx="47548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Интеграция с ВК, Telegram, WhatsApp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09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Рынок Таджикистана — потенциал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14884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6" name="Image 0" descr="./deck_icons/glob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0938" y="2335378"/>
            <a:ext cx="404165" cy="40416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210312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9.5 млн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30632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Население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98264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0" name="Shape 7"/>
          <p:cNvSpPr/>
          <p:nvPr/>
        </p:nvSpPr>
        <p:spPr>
          <a:xfrm>
            <a:off x="4672584" y="214884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1" name="Image 1" descr="./deck_icons/child_g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59122" y="2335378"/>
            <a:ext cx="404165" cy="40416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632704" y="210312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500K+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4672584" y="30632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с дошкольниками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156448" y="182880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5" name="Shape 11"/>
          <p:cNvSpPr/>
          <p:nvPr/>
        </p:nvSpPr>
        <p:spPr>
          <a:xfrm>
            <a:off x="8430768" y="214884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6" name="Image 2" descr="./deck_icons/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17306" y="2335378"/>
            <a:ext cx="404165" cy="40416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9390888" y="210312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800K+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8430768" y="306324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Семьи со школьниками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069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0" name="Shape 15"/>
          <p:cNvSpPr/>
          <p:nvPr/>
        </p:nvSpPr>
        <p:spPr>
          <a:xfrm>
            <a:off x="914400" y="438912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1" name="Image 3" descr="./deck_icons/grad_g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00938" y="4575658"/>
            <a:ext cx="404165" cy="40416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1874520" y="434340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E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200K+</a:t>
            </a:r>
            <a:endParaRPr lang="en-US" sz="3200" dirty="0"/>
          </a:p>
        </p:txBody>
      </p:sp>
      <p:sp>
        <p:nvSpPr>
          <p:cNvPr id="23" name="Text 17"/>
          <p:cNvSpPr/>
          <p:nvPr/>
        </p:nvSpPr>
        <p:spPr>
          <a:xfrm>
            <a:off x="914400" y="53035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Студенты вузов</a:t>
            </a:r>
            <a:endParaRPr lang="en-US" sz="1300" dirty="0"/>
          </a:p>
        </p:txBody>
      </p:sp>
      <p:sp>
        <p:nvSpPr>
          <p:cNvPr id="24" name="Shape 18"/>
          <p:cNvSpPr/>
          <p:nvPr/>
        </p:nvSpPr>
        <p:spPr>
          <a:xfrm>
            <a:off x="4398264" y="4069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5" name="Shape 19"/>
          <p:cNvSpPr/>
          <p:nvPr/>
        </p:nvSpPr>
        <p:spPr>
          <a:xfrm>
            <a:off x="4672584" y="438912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6" name="Image 4" descr="./deck_icons/ho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59122" y="4575658"/>
            <a:ext cx="404165" cy="40416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5632704" y="434340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8 000+</a:t>
            </a:r>
            <a:endParaRPr lang="en-US" sz="3200" dirty="0"/>
          </a:p>
        </p:txBody>
      </p:sp>
      <p:sp>
        <p:nvSpPr>
          <p:cNvPr id="28" name="Text 21"/>
          <p:cNvSpPr/>
          <p:nvPr/>
        </p:nvSpPr>
        <p:spPr>
          <a:xfrm>
            <a:off x="4672584" y="53035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Учреждений</a:t>
            </a:r>
            <a:endParaRPr lang="en-US" sz="1300" dirty="0"/>
          </a:p>
        </p:txBody>
      </p:sp>
      <p:sp>
        <p:nvSpPr>
          <p:cNvPr id="29" name="Shape 22"/>
          <p:cNvSpPr/>
          <p:nvPr/>
        </p:nvSpPr>
        <p:spPr>
          <a:xfrm>
            <a:off x="8156448" y="4069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0" name="Shape 23"/>
          <p:cNvSpPr/>
          <p:nvPr/>
        </p:nvSpPr>
        <p:spPr>
          <a:xfrm>
            <a:off x="8430768" y="4389120"/>
            <a:ext cx="777240" cy="77724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1" name="Image 5" descr="./deck_icons/users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17306" y="4575658"/>
            <a:ext cx="404165" cy="404165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9390888" y="4343400"/>
            <a:ext cx="216712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2.5M+</a:t>
            </a:r>
            <a:endParaRPr lang="en-US" sz="3200" dirty="0"/>
          </a:p>
        </p:txBody>
      </p:sp>
      <p:sp>
        <p:nvSpPr>
          <p:cNvPr id="33" name="Text 25"/>
          <p:cNvSpPr/>
          <p:nvPr/>
        </p:nvSpPr>
        <p:spPr>
          <a:xfrm>
            <a:off x="8430768" y="5303520"/>
            <a:ext cx="2990088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Потенц. пользователей</a:t>
            </a:r>
            <a:endParaRPr lang="en-US" sz="1300" dirty="0"/>
          </a:p>
        </p:txBody>
      </p:sp>
      <p:sp>
        <p:nvSpPr>
          <p:cNvPr id="34" name="Text 26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5" name="Text 27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10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Финансовая модель — 4 источника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37360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68680" y="1956816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4743" y="209287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45920" y="187452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1.  </a:t>
            </a:r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Премиум-аккаунты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645920" y="224028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· Pro $30/мес · Enterprise $100/мес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10149840" y="1874520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66%</a:t>
            </a:r>
            <a:endParaRPr lang="en-US" sz="2600" dirty="0"/>
          </a:p>
        </p:txBody>
      </p:sp>
      <p:sp>
        <p:nvSpPr>
          <p:cNvPr id="10" name="Shape 7"/>
          <p:cNvSpPr/>
          <p:nvPr/>
        </p:nvSpPr>
        <p:spPr>
          <a:xfrm>
            <a:off x="640080" y="2907792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868680" y="3127248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./deck_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04743" y="3263311"/>
            <a:ext cx="294803" cy="29480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645920" y="3044952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2.  </a:t>
            </a:r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Контекстная реклама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645920" y="3410712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$2–5 CPM × 1M показов = $2–5K/мес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10149840" y="3044952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E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18%</a:t>
            </a:r>
            <a:endParaRPr lang="en-US" sz="2600" dirty="0"/>
          </a:p>
        </p:txBody>
      </p:sp>
      <p:sp>
        <p:nvSpPr>
          <p:cNvPr id="16" name="Shape 12"/>
          <p:cNvSpPr/>
          <p:nvPr/>
        </p:nvSpPr>
        <p:spPr>
          <a:xfrm>
            <a:off x="640080" y="4078224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68680" y="4297680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8" name="Image 2" descr="./deck_icons/star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4743" y="4433743"/>
            <a:ext cx="294803" cy="294803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645920" y="4215384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3.  </a:t>
            </a:r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Спонсорские объявления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645920" y="4581144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$500–5K/мес от крупных учреждений</a:t>
            </a:r>
            <a:endParaRPr lang="en-US" sz="1200" dirty="0"/>
          </a:p>
        </p:txBody>
      </p:sp>
      <p:sp>
        <p:nvSpPr>
          <p:cNvPr id="21" name="Text 16"/>
          <p:cNvSpPr/>
          <p:nvPr/>
        </p:nvSpPr>
        <p:spPr>
          <a:xfrm>
            <a:off x="10149840" y="4215384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2E7D9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9%</a:t>
            </a:r>
            <a:endParaRPr lang="en-US" sz="2600" dirty="0"/>
          </a:p>
        </p:txBody>
      </p:sp>
      <p:sp>
        <p:nvSpPr>
          <p:cNvPr id="22" name="Shape 17"/>
          <p:cNvSpPr/>
          <p:nvPr/>
        </p:nvSpPr>
        <p:spPr>
          <a:xfrm>
            <a:off x="640080" y="5248656"/>
            <a:ext cx="10881360" cy="1005840"/>
          </a:xfrm>
          <a:prstGeom prst="roundRect">
            <a:avLst>
              <a:gd name="adj" fmla="val 7273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868680" y="5468112"/>
            <a:ext cx="566928" cy="566928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4" name="Image 3" descr="./deck_icons/handshak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4743" y="5604175"/>
            <a:ext cx="294803" cy="294803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45920" y="5385816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Источник 4.  </a:t>
            </a:r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B2B и API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645920" y="5751576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Партнёры, НКО: $10K+</a:t>
            </a:r>
            <a:endParaRPr lang="en-US" sz="1200" dirty="0"/>
          </a:p>
        </p:txBody>
      </p:sp>
      <p:sp>
        <p:nvSpPr>
          <p:cNvPr id="27" name="Text 21"/>
          <p:cNvSpPr/>
          <p:nvPr/>
        </p:nvSpPr>
        <p:spPr>
          <a:xfrm>
            <a:off x="10149840" y="5385816"/>
            <a:ext cx="10972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7%</a:t>
            </a:r>
            <a:endParaRPr lang="en-US" sz="2600" dirty="0"/>
          </a:p>
        </p:txBody>
      </p:sp>
      <p:sp>
        <p:nvSpPr>
          <p:cNvPr id="28" name="Text 22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29" name="Text 2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11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Финансовый прогноз · год 1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508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Рост дохода по кварталам</a:t>
            </a:r>
            <a:endParaRPr lang="en-US" sz="15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457200" y="1920240"/>
          <a:ext cx="69494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Shape 3"/>
          <p:cNvSpPr/>
          <p:nvPr/>
        </p:nvSpPr>
        <p:spPr>
          <a:xfrm>
            <a:off x="7772400" y="201168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999999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7" name="Shape 4"/>
          <p:cNvSpPr/>
          <p:nvPr/>
        </p:nvSpPr>
        <p:spPr>
          <a:xfrm>
            <a:off x="7772400" y="2011680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2D7D4F"/>
          </a:solidFill>
          <a:ln/>
        </p:spPr>
        <p:txBody>
          <a:bodyPr/>
          <a:p/>
        </p:txBody>
      </p:sp>
      <p:sp>
        <p:nvSpPr>
          <p:cNvPr id="8" name="Text 5"/>
          <p:cNvSpPr/>
          <p:nvPr/>
        </p:nvSpPr>
        <p:spPr>
          <a:xfrm>
            <a:off x="8046720" y="214884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ГОДОВОЙ ДОХОД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8046720" y="239572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D7D4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$136K</a:t>
            </a:r>
            <a:endParaRPr lang="en-US" sz="3000" dirty="0"/>
          </a:p>
        </p:txBody>
      </p:sp>
      <p:sp>
        <p:nvSpPr>
          <p:cNvPr id="10" name="Shape 7"/>
          <p:cNvSpPr/>
          <p:nvPr/>
        </p:nvSpPr>
        <p:spPr>
          <a:xfrm>
            <a:off x="7772400" y="329184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999999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7772400" y="3291840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2" name="Text 9"/>
          <p:cNvSpPr/>
          <p:nvPr/>
        </p:nvSpPr>
        <p:spPr>
          <a:xfrm>
            <a:off x="8046720" y="3429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ОКУПАЕМОСТЬ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8046720" y="367588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18–24 мес</a:t>
            </a:r>
            <a:endParaRPr lang="en-US" sz="3000" dirty="0"/>
          </a:p>
        </p:txBody>
      </p:sp>
      <p:sp>
        <p:nvSpPr>
          <p:cNvPr id="14" name="Shape 11"/>
          <p:cNvSpPr/>
          <p:nvPr/>
        </p:nvSpPr>
        <p:spPr>
          <a:xfrm>
            <a:off x="7772400" y="4572000"/>
            <a:ext cx="3794760" cy="1051560"/>
          </a:xfrm>
          <a:prstGeom prst="roundRect">
            <a:avLst>
              <a:gd name="adj" fmla="val 782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50800" dist="25400" dir="5400000">
              <a:srgbClr val="999999">
                <a:alpha val="15000"/>
              </a:srgbClr>
            </a:outerShdw>
          </a:effectLst>
        </p:spPr>
        <p:txBody>
          <a:bodyPr/>
          <a:p/>
        </p:txBody>
      </p:sp>
      <p:sp>
        <p:nvSpPr>
          <p:cNvPr id="15" name="Shape 12"/>
          <p:cNvSpPr/>
          <p:nvPr/>
        </p:nvSpPr>
        <p:spPr>
          <a:xfrm>
            <a:off x="7772400" y="4572000"/>
            <a:ext cx="128016" cy="1051560"/>
          </a:xfrm>
          <a:prstGeom prst="roundRect">
            <a:avLst>
              <a:gd name="adj" fmla="val 14286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16" name="Text 13"/>
          <p:cNvSpPr/>
          <p:nvPr/>
        </p:nvSpPr>
        <p:spPr>
          <a:xfrm>
            <a:off x="8046720" y="47091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MRR ГОД 2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46720" y="4956048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$400K+</a:t>
            </a:r>
            <a:endParaRPr lang="en-US" sz="3000" dirty="0"/>
          </a:p>
        </p:txBody>
      </p:sp>
      <p:sp>
        <p:nvSpPr>
          <p:cNvPr id="18" name="Text 15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12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KPI к концу года 1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914400" y="205740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6" name="Image 0" descr="./deck_icons/us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68019" y="2211019"/>
            <a:ext cx="332842" cy="3328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91640" y="207568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7432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15 000</a:t>
            </a:r>
            <a:endParaRPr lang="en-US" sz="3600" dirty="0"/>
          </a:p>
        </p:txBody>
      </p:sp>
      <p:sp>
        <p:nvSpPr>
          <p:cNvPr id="9" name="Text 6"/>
          <p:cNvSpPr/>
          <p:nvPr/>
        </p:nvSpPr>
        <p:spPr>
          <a:xfrm>
            <a:off x="914400" y="33558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ежедневные пользователи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398264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4672584" y="205740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2" name="Image 1" descr="./deck_icons/bar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26203" y="2211019"/>
            <a:ext cx="332842" cy="332842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9824" y="207568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MAU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4672584" y="27432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80 000</a:t>
            </a:r>
            <a:endParaRPr lang="en-US" sz="3600" dirty="0"/>
          </a:p>
        </p:txBody>
      </p:sp>
      <p:sp>
        <p:nvSpPr>
          <p:cNvPr id="15" name="Text 11"/>
          <p:cNvSpPr/>
          <p:nvPr/>
        </p:nvSpPr>
        <p:spPr>
          <a:xfrm>
            <a:off x="4672584" y="33558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ежемесячные пользователи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8156448" y="178308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7" name="Shape 13"/>
          <p:cNvSpPr/>
          <p:nvPr/>
        </p:nvSpPr>
        <p:spPr>
          <a:xfrm>
            <a:off x="8430768" y="205740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18" name="Image 2" descr="./deck_icons/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84387" y="2211019"/>
            <a:ext cx="332842" cy="332842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208008" y="207568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Учреждения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8430768" y="274320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2 000+</a:t>
            </a:r>
            <a:endParaRPr lang="en-US" sz="3600" dirty="0"/>
          </a:p>
        </p:txBody>
      </p:sp>
      <p:sp>
        <p:nvSpPr>
          <p:cNvPr id="21" name="Text 16"/>
          <p:cNvSpPr/>
          <p:nvPr/>
        </p:nvSpPr>
        <p:spPr>
          <a:xfrm>
            <a:off x="8430768" y="335584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активных на платформе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18"/>
          <p:cNvSpPr/>
          <p:nvPr/>
        </p:nvSpPr>
        <p:spPr>
          <a:xfrm>
            <a:off x="914400" y="429768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24" name="Image 3" descr="./deck_icons/star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8019" y="4451299"/>
            <a:ext cx="332842" cy="33284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691640" y="43159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Отзывов</a:t>
            </a:r>
            <a:endParaRPr lang="en-US" sz="1300" dirty="0"/>
          </a:p>
        </p:txBody>
      </p:sp>
      <p:sp>
        <p:nvSpPr>
          <p:cNvPr id="26" name="Text 20"/>
          <p:cNvSpPr/>
          <p:nvPr/>
        </p:nvSpPr>
        <p:spPr>
          <a:xfrm>
            <a:off x="914400" y="49834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2 000+</a:t>
            </a:r>
            <a:endParaRPr lang="en-US" sz="3600" dirty="0"/>
          </a:p>
        </p:txBody>
      </p:sp>
      <p:sp>
        <p:nvSpPr>
          <p:cNvPr id="27" name="Text 21"/>
          <p:cNvSpPr/>
          <p:nvPr/>
        </p:nvSpPr>
        <p:spPr>
          <a:xfrm>
            <a:off x="914400" y="559612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опубликовано</a:t>
            </a:r>
            <a:endParaRPr lang="en-US" sz="1100" dirty="0"/>
          </a:p>
        </p:txBody>
      </p:sp>
      <p:sp>
        <p:nvSpPr>
          <p:cNvPr id="28" name="Shape 22"/>
          <p:cNvSpPr/>
          <p:nvPr/>
        </p:nvSpPr>
        <p:spPr>
          <a:xfrm>
            <a:off x="4398264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9" name="Shape 23"/>
          <p:cNvSpPr/>
          <p:nvPr/>
        </p:nvSpPr>
        <p:spPr>
          <a:xfrm>
            <a:off x="4672584" y="429768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0" name="Image 4" descr="./deck_icons/aw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6203" y="4451299"/>
            <a:ext cx="332842" cy="332842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5449824" y="43159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Рейтинг</a:t>
            </a:r>
            <a:endParaRPr lang="en-US" sz="1300" dirty="0"/>
          </a:p>
        </p:txBody>
      </p:sp>
      <p:sp>
        <p:nvSpPr>
          <p:cNvPr id="32" name="Text 25"/>
          <p:cNvSpPr/>
          <p:nvPr/>
        </p:nvSpPr>
        <p:spPr>
          <a:xfrm>
            <a:off x="4672584" y="49834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4.3★</a:t>
            </a:r>
            <a:endParaRPr lang="en-US" sz="3600" dirty="0"/>
          </a:p>
        </p:txBody>
      </p:sp>
      <p:sp>
        <p:nvSpPr>
          <p:cNvPr id="33" name="Text 26"/>
          <p:cNvSpPr/>
          <p:nvPr/>
        </p:nvSpPr>
        <p:spPr>
          <a:xfrm>
            <a:off x="4672584" y="559612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средний по платформе</a:t>
            </a:r>
            <a:endParaRPr lang="en-US" sz="1100" dirty="0"/>
          </a:p>
        </p:txBody>
      </p:sp>
      <p:sp>
        <p:nvSpPr>
          <p:cNvPr id="34" name="Shape 27"/>
          <p:cNvSpPr/>
          <p:nvPr/>
        </p:nvSpPr>
        <p:spPr>
          <a:xfrm>
            <a:off x="8156448" y="4023360"/>
            <a:ext cx="3538728" cy="1965960"/>
          </a:xfrm>
          <a:prstGeom prst="roundRect">
            <a:avLst>
              <a:gd name="adj" fmla="val 4651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5" name="Shape 28"/>
          <p:cNvSpPr/>
          <p:nvPr/>
        </p:nvSpPr>
        <p:spPr>
          <a:xfrm>
            <a:off x="8430768" y="4297680"/>
            <a:ext cx="640080" cy="640080"/>
          </a:xfrm>
          <a:prstGeom prst="ellipse">
            <a:avLst/>
          </a:prstGeom>
          <a:solidFill>
            <a:srgbClr val="F2F4F7"/>
          </a:solidFill>
          <a:ln/>
        </p:spPr>
        <p:txBody>
          <a:bodyPr/>
          <a:p/>
        </p:txBody>
      </p:sp>
      <p:pic>
        <p:nvPicPr>
          <p:cNvPr id="36" name="Image 5" descr="./deck_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84387" y="4451299"/>
            <a:ext cx="332842" cy="332842"/>
          </a:xfrm>
          <a:prstGeom prst="rect">
            <a:avLst/>
          </a:prstGeom>
        </p:spPr>
      </p:pic>
      <p:sp>
        <p:nvSpPr>
          <p:cNvPr id="37" name="Text 29"/>
          <p:cNvSpPr/>
          <p:nvPr/>
        </p:nvSpPr>
        <p:spPr>
          <a:xfrm>
            <a:off x="9208008" y="4315968"/>
            <a:ext cx="235000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Верификация</a:t>
            </a:r>
            <a:endParaRPr lang="en-US" sz="1300" dirty="0"/>
          </a:p>
        </p:txBody>
      </p:sp>
      <p:sp>
        <p:nvSpPr>
          <p:cNvPr id="38" name="Text 30"/>
          <p:cNvSpPr/>
          <p:nvPr/>
        </p:nvSpPr>
        <p:spPr>
          <a:xfrm>
            <a:off x="8430768" y="4983480"/>
            <a:ext cx="2990088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95%</a:t>
            </a:r>
            <a:endParaRPr lang="en-US" sz="3600" dirty="0"/>
          </a:p>
        </p:txBody>
      </p:sp>
      <p:sp>
        <p:nvSpPr>
          <p:cNvPr id="39" name="Text 31"/>
          <p:cNvSpPr/>
          <p:nvPr/>
        </p:nvSpPr>
        <p:spPr>
          <a:xfrm>
            <a:off x="8430768" y="5596128"/>
            <a:ext cx="2990088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проверенных учреждений</a:t>
            </a:r>
            <a:endParaRPr lang="en-US" sz="1100" dirty="0"/>
          </a:p>
        </p:txBody>
      </p:sp>
      <p:sp>
        <p:nvSpPr>
          <p:cNvPr id="40" name="Text 32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41" name="Text 3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13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Дорожная карта · 12 месяцев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2103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1623060" y="1783080"/>
            <a:ext cx="731520" cy="73152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623060" y="181051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822960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822960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1–3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1097280" y="3657600"/>
            <a:ext cx="178308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868680" y="38404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Каталог, профили, отзывы, сравнение, чат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914400" y="51937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22960" y="521208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 школ · 1K DAU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3557016" y="2103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4539996" y="1783080"/>
            <a:ext cx="731520" cy="731520"/>
          </a:xfrm>
          <a:prstGeom prst="ellipse">
            <a:avLst/>
          </a:prstGeom>
          <a:solidFill>
            <a:srgbClr val="2E7D9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4539996" y="181051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3739896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3739896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4–6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014216" y="3657600"/>
            <a:ext cx="178308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3785616" y="38404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метрик, аналитика, премиум-аккаунты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831336" y="51937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3739896" y="521208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 школ · 5K DAU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473952" y="2103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23" name="Shape 21"/>
          <p:cNvSpPr/>
          <p:nvPr/>
        </p:nvSpPr>
        <p:spPr>
          <a:xfrm>
            <a:off x="7456932" y="1783080"/>
            <a:ext cx="731520" cy="731520"/>
          </a:xfrm>
          <a:prstGeom prst="ellipse">
            <a:avLst/>
          </a:prstGeom>
          <a:solidFill>
            <a:srgbClr val="1B3A5C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24" name="Text 22"/>
          <p:cNvSpPr/>
          <p:nvPr/>
        </p:nvSpPr>
        <p:spPr>
          <a:xfrm>
            <a:off x="7456932" y="181051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600" dirty="0"/>
          </a:p>
        </p:txBody>
      </p:sp>
      <p:sp>
        <p:nvSpPr>
          <p:cNvPr id="25" name="Text 23"/>
          <p:cNvSpPr/>
          <p:nvPr/>
        </p:nvSpPr>
        <p:spPr>
          <a:xfrm>
            <a:off x="6656832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Волна 2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6656832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7–9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6931152" y="3657600"/>
            <a:ext cx="178308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6702552" y="38404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Вакансии, приложение, платежи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6748272" y="51937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30" name="Text 28"/>
          <p:cNvSpPr/>
          <p:nvPr/>
        </p:nvSpPr>
        <p:spPr>
          <a:xfrm>
            <a:off x="6656832" y="521208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1.5K школ · 10K DAU</a:t>
            </a:r>
            <a:endParaRPr lang="en-US" sz="1150" dirty="0"/>
          </a:p>
        </p:txBody>
      </p:sp>
      <p:sp>
        <p:nvSpPr>
          <p:cNvPr id="31" name="Shape 29"/>
          <p:cNvSpPr/>
          <p:nvPr/>
        </p:nvSpPr>
        <p:spPr>
          <a:xfrm>
            <a:off x="9390888" y="2103120"/>
            <a:ext cx="2697480" cy="3749040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63500" dist="25400" dir="5400000">
              <a:srgbClr val="999999">
                <a:alpha val="18000"/>
              </a:srgbClr>
            </a:outerShdw>
          </a:effectLst>
        </p:spPr>
        <p:txBody>
          <a:bodyPr/>
          <a:p/>
        </p:txBody>
      </p:sp>
      <p:sp>
        <p:nvSpPr>
          <p:cNvPr id="32" name="Shape 30"/>
          <p:cNvSpPr/>
          <p:nvPr/>
        </p:nvSpPr>
        <p:spPr>
          <a:xfrm>
            <a:off x="10373868" y="1783080"/>
            <a:ext cx="731520" cy="731520"/>
          </a:xfrm>
          <a:prstGeom prst="ellipse">
            <a:avLst/>
          </a:prstGeom>
          <a:solidFill>
            <a:srgbClr val="2E7D9A"/>
          </a:solidFill>
          <a:ln w="38100">
            <a:solidFill>
              <a:srgbClr val="FFFFFF"/>
            </a:solidFill>
            <a:prstDash val="solid"/>
          </a:ln>
          <a:effectLst>
            <a:outerShdw sx="100000" sy="100000" kx="0" ky="0" algn="bl" rotWithShape="0" blurRad="50800" dist="25400" dir="5400000">
              <a:srgbClr val="888888">
                <a:alpha val="30000"/>
              </a:srgbClr>
            </a:outerShdw>
          </a:effectLst>
        </p:spPr>
        <p:txBody>
          <a:bodyPr/>
          <a:p/>
        </p:txBody>
      </p:sp>
      <p:sp>
        <p:nvSpPr>
          <p:cNvPr id="33" name="Text 31"/>
          <p:cNvSpPr/>
          <p:nvPr/>
        </p:nvSpPr>
        <p:spPr>
          <a:xfrm>
            <a:off x="10373868" y="1810512"/>
            <a:ext cx="7315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600" dirty="0"/>
          </a:p>
        </p:txBody>
      </p:sp>
      <p:sp>
        <p:nvSpPr>
          <p:cNvPr id="34" name="Text 32"/>
          <p:cNvSpPr/>
          <p:nvPr/>
        </p:nvSpPr>
        <p:spPr>
          <a:xfrm>
            <a:off x="9573768" y="26517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900" dirty="0"/>
          </a:p>
        </p:txBody>
      </p:sp>
      <p:sp>
        <p:nvSpPr>
          <p:cNvPr id="35" name="Text 33"/>
          <p:cNvSpPr/>
          <p:nvPr/>
        </p:nvSpPr>
        <p:spPr>
          <a:xfrm>
            <a:off x="9573768" y="3154680"/>
            <a:ext cx="2331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10–12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848088" y="3657600"/>
            <a:ext cx="1783080" cy="0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7" name="Text 35"/>
          <p:cNvSpPr/>
          <p:nvPr/>
        </p:nvSpPr>
        <p:spPr>
          <a:xfrm>
            <a:off x="9619488" y="3840480"/>
            <a:ext cx="22402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Публичный API для партнёров, новые города</a:t>
            </a:r>
            <a:endParaRPr lang="en-US" sz="1200" dirty="0"/>
          </a:p>
        </p:txBody>
      </p:sp>
      <p:sp>
        <p:nvSpPr>
          <p:cNvPr id="38" name="Shape 36"/>
          <p:cNvSpPr/>
          <p:nvPr/>
        </p:nvSpPr>
        <p:spPr>
          <a:xfrm>
            <a:off x="9665208" y="5193792"/>
            <a:ext cx="2148840" cy="457200"/>
          </a:xfrm>
          <a:prstGeom prst="roundRect">
            <a:avLst>
              <a:gd name="adj" fmla="val 50000"/>
            </a:avLst>
          </a:prstGeom>
          <a:solidFill>
            <a:srgbClr val="F2F4F7"/>
          </a:solidFill>
          <a:ln/>
        </p:spPr>
        <p:txBody>
          <a:bodyPr/>
          <a:p/>
        </p:txBody>
      </p:sp>
      <p:sp>
        <p:nvSpPr>
          <p:cNvPr id="39" name="Text 37"/>
          <p:cNvSpPr/>
          <p:nvPr/>
        </p:nvSpPr>
        <p:spPr>
          <a:xfrm>
            <a:off x="9573768" y="5212080"/>
            <a:ext cx="2331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2E7D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2K школ · 15K DAU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14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Фокус MVP: что откладываем и почему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40080" y="137160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риск — пытаться сделать всё сразу. Мы сознательно откладываем дорогие надстройки до запуска основного.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48840"/>
            <a:ext cx="5367528" cy="182880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914400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7" name="Image 0" descr="./deck_icons/tru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598725"/>
            <a:ext cx="380390" cy="38039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828800" y="2441448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</a:rPr>
              <a:t>GPS-трекинг развозки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Вторая волна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960120" y="3200400"/>
            <a:ext cx="4727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Нужно оборудование у школ; развозку часто организуют сами родители — нечего отслеживать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6272784" y="2148840"/>
            <a:ext cx="5367528" cy="182880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1" name="Shape 8"/>
          <p:cNvSpPr/>
          <p:nvPr/>
        </p:nvSpPr>
        <p:spPr>
          <a:xfrm>
            <a:off x="6547104" y="24231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2" name="Image 1" descr="./deck_icons/foo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22669" y="2598725"/>
            <a:ext cx="380390" cy="38039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461504" y="2441448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</a:rPr>
              <a:t>Меню и оплата питания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Вторая волна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6592824" y="3200400"/>
            <a:ext cx="4727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Внутренняя ответственность школы; требует регулярного обновления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40080" y="4206240"/>
            <a:ext cx="5367528" cy="182880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6" name="Shape 12"/>
          <p:cNvSpPr/>
          <p:nvPr/>
        </p:nvSpPr>
        <p:spPr>
          <a:xfrm>
            <a:off x="914400" y="4480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7" name="Image 2" descr="./deck_icons/briefcas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4656125"/>
            <a:ext cx="380390" cy="38039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828800" y="4498848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</a:rPr>
              <a:t>Доска вакансий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Вторая волна</a:t>
            </a:r>
            <a:endParaRPr lang="en-US" sz="1500" dirty="0"/>
          </a:p>
        </p:txBody>
      </p:sp>
      <p:sp>
        <p:nvSpPr>
          <p:cNvPr id="19" name="Text 14"/>
          <p:cNvSpPr/>
          <p:nvPr/>
        </p:nvSpPr>
        <p:spPr>
          <a:xfrm>
            <a:off x="960120" y="5257800"/>
            <a:ext cx="4727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Фактически отдельный продукт; добавляем после запуска основного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6272784" y="4206240"/>
            <a:ext cx="5367528" cy="1828800"/>
          </a:xfrm>
          <a:prstGeom prst="roundRect">
            <a:avLst>
              <a:gd name="adj" fmla="val 4500"/>
            </a:avLst>
          </a:prstGeom>
          <a:solidFill>
            <a:srgbClr val="F2F4F7"/>
          </a:solidFill>
          <a:ln w="9525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1" name="Shape 16"/>
          <p:cNvSpPr/>
          <p:nvPr/>
        </p:nvSpPr>
        <p:spPr>
          <a:xfrm>
            <a:off x="6547104" y="4480560"/>
            <a:ext cx="731520" cy="73152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2" name="Image 3" descr="./deck_icons/phon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22669" y="4656125"/>
            <a:ext cx="380390" cy="380390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7461504" y="4498848"/>
            <a:ext cx="3995928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</a:rPr>
              <a:t>Нативные приложения</a:t>
            </a:r>
            <a:endParaRPr lang="en-US" sz="1500" dirty="0"/>
          </a:p>
          <a:p>
            <a:pPr indent="0" marL="0">
              <a:buNone/>
            </a:pPr>
            <a:r>
              <a:rPr lang="en-US" sz="1100" b="1" dirty="0">
                <a:solidFill>
                  <a:srgbClr val="C9A227"/>
                </a:solidFill>
              </a:rPr>
              <a:t>Вторая волна</a:t>
            </a:r>
            <a:endParaRPr lang="en-US" sz="1500" dirty="0"/>
          </a:p>
        </p:txBody>
      </p:sp>
      <p:sp>
        <p:nvSpPr>
          <p:cNvPr id="24" name="Text 18"/>
          <p:cNvSpPr/>
          <p:nvPr/>
        </p:nvSpPr>
        <p:spPr>
          <a:xfrm>
            <a:off x="6592824" y="5257800"/>
            <a:ext cx="4727448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закрывает потребности MVP; нативная разработка дороже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26" name="Text 2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2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15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Риски и стратегии смягчения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640080" y="1691640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841248" y="1837944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6" name="Image 0" descr="./deck_icons/z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2922" y="1969618"/>
            <a:ext cx="285293" cy="28529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600200" y="1737360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Холодный старт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852160" y="1874520"/>
            <a:ext cx="0" cy="475488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9" name="Text 6"/>
          <p:cNvSpPr/>
          <p:nvPr/>
        </p:nvSpPr>
        <p:spPr>
          <a:xfrm>
            <a:off x="5989320" y="1691640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0" name="Text 7"/>
          <p:cNvSpPr/>
          <p:nvPr/>
        </p:nvSpPr>
        <p:spPr>
          <a:xfrm>
            <a:off x="6446520" y="1691640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PR, партнёрства, влиятельные люди, реферальная программа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640080" y="2642616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2" name="Shape 9"/>
          <p:cNvSpPr/>
          <p:nvPr/>
        </p:nvSpPr>
        <p:spPr>
          <a:xfrm>
            <a:off x="841248" y="278892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13" name="Image 1" descr="./deck_icons/hom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2922" y="2920594"/>
            <a:ext cx="285293" cy="285293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600200" y="2688336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Школы не заполняют профиль</a:t>
            </a:r>
            <a:endParaRPr lang="en-US" sz="1500" dirty="0"/>
          </a:p>
        </p:txBody>
      </p:sp>
      <p:sp>
        <p:nvSpPr>
          <p:cNvPr id="15" name="Shape 11"/>
          <p:cNvSpPr/>
          <p:nvPr/>
        </p:nvSpPr>
        <p:spPr>
          <a:xfrm>
            <a:off x="5852160" y="2825496"/>
            <a:ext cx="0" cy="475488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6" name="Text 12"/>
          <p:cNvSpPr/>
          <p:nvPr/>
        </p:nvSpPr>
        <p:spPr>
          <a:xfrm>
            <a:off x="5989320" y="2642616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17" name="Text 13"/>
          <p:cNvSpPr/>
          <p:nvPr/>
        </p:nvSpPr>
        <p:spPr>
          <a:xfrm>
            <a:off x="6446520" y="2642616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Вручную заполним первые 100 школ + бесплатный премиум</a:t>
            </a:r>
            <a:endParaRPr lang="en-US" sz="1300" dirty="0"/>
          </a:p>
        </p:txBody>
      </p:sp>
      <p:sp>
        <p:nvSpPr>
          <p:cNvPr id="18" name="Shape 14"/>
          <p:cNvSpPr/>
          <p:nvPr/>
        </p:nvSpPr>
        <p:spPr>
          <a:xfrm>
            <a:off x="640080" y="3593592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19" name="Shape 15"/>
          <p:cNvSpPr/>
          <p:nvPr/>
        </p:nvSpPr>
        <p:spPr>
          <a:xfrm>
            <a:off x="841248" y="3739896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0" name="Image 2" descr="./deck_icons/glob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2922" y="3871570"/>
            <a:ext cx="285293" cy="28529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1600200" y="3639312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Конкуренция Google/Яндекс</a:t>
            </a:r>
            <a:endParaRPr lang="en-US" sz="1500" dirty="0"/>
          </a:p>
        </p:txBody>
      </p:sp>
      <p:sp>
        <p:nvSpPr>
          <p:cNvPr id="22" name="Shape 17"/>
          <p:cNvSpPr/>
          <p:nvPr/>
        </p:nvSpPr>
        <p:spPr>
          <a:xfrm>
            <a:off x="5852160" y="3776472"/>
            <a:ext cx="0" cy="475488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3" name="Text 18"/>
          <p:cNvSpPr/>
          <p:nvPr/>
        </p:nvSpPr>
        <p:spPr>
          <a:xfrm>
            <a:off x="5989320" y="3593592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6446520" y="3593592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Специализация + глубина данных</a:t>
            </a:r>
            <a:endParaRPr lang="en-US" sz="1300" dirty="0"/>
          </a:p>
        </p:txBody>
      </p:sp>
      <p:sp>
        <p:nvSpPr>
          <p:cNvPr id="25" name="Shape 20"/>
          <p:cNvSpPr/>
          <p:nvPr/>
        </p:nvSpPr>
        <p:spPr>
          <a:xfrm>
            <a:off x="640080" y="4544568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FFFFF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26" name="Shape 21"/>
          <p:cNvSpPr/>
          <p:nvPr/>
        </p:nvSpPr>
        <p:spPr>
          <a:xfrm>
            <a:off x="841248" y="4690872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27" name="Image 3" descr="./deck_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72922" y="4822546"/>
            <a:ext cx="285293" cy="285293"/>
          </a:xfrm>
          <a:prstGeom prst="rect">
            <a:avLst/>
          </a:prstGeom>
        </p:spPr>
      </p:pic>
      <p:sp>
        <p:nvSpPr>
          <p:cNvPr id="28" name="Text 22"/>
          <p:cNvSpPr/>
          <p:nvPr/>
        </p:nvSpPr>
        <p:spPr>
          <a:xfrm>
            <a:off x="1600200" y="4590288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Дорогая модерация спама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5852160" y="4727448"/>
            <a:ext cx="0" cy="475488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0" name="Text 24"/>
          <p:cNvSpPr/>
          <p:nvPr/>
        </p:nvSpPr>
        <p:spPr>
          <a:xfrm>
            <a:off x="5989320" y="4544568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1" name="Text 25"/>
          <p:cNvSpPr/>
          <p:nvPr/>
        </p:nvSpPr>
        <p:spPr>
          <a:xfrm>
            <a:off x="6446520" y="4544568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AI-фильтры + волонтёры + система репутации</a:t>
            </a:r>
            <a:endParaRPr lang="en-US" sz="1300" dirty="0"/>
          </a:p>
        </p:txBody>
      </p:sp>
      <p:sp>
        <p:nvSpPr>
          <p:cNvPr id="32" name="Shape 26"/>
          <p:cNvSpPr/>
          <p:nvPr/>
        </p:nvSpPr>
        <p:spPr>
          <a:xfrm>
            <a:off x="640080" y="5495544"/>
            <a:ext cx="10881360" cy="841248"/>
          </a:xfrm>
          <a:prstGeom prst="roundRect">
            <a:avLst>
              <a:gd name="adj" fmla="val 7609"/>
            </a:avLst>
          </a:prstGeom>
          <a:solidFill>
            <a:srgbClr val="F2F4F7"/>
          </a:solidFill>
          <a:ln w="635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3" name="Shape 27"/>
          <p:cNvSpPr/>
          <p:nvPr/>
        </p:nvSpPr>
        <p:spPr>
          <a:xfrm>
            <a:off x="841248" y="5641848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  <p:txBody>
          <a:bodyPr/>
          <a:p/>
        </p:txBody>
      </p:sp>
      <p:pic>
        <p:nvPicPr>
          <p:cNvPr id="34" name="Image 4" descr="./deck_icons/wifi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2922" y="5773522"/>
            <a:ext cx="285293" cy="285293"/>
          </a:xfrm>
          <a:prstGeom prst="rect">
            <a:avLst/>
          </a:prstGeom>
        </p:spPr>
      </p:pic>
      <p:sp>
        <p:nvSpPr>
          <p:cNvPr id="35" name="Text 28"/>
          <p:cNvSpPr/>
          <p:nvPr/>
        </p:nvSpPr>
        <p:spPr>
          <a:xfrm>
            <a:off x="1600200" y="5541264"/>
            <a:ext cx="4114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Нестабильный интернет</a:t>
            </a:r>
            <a:endParaRPr lang="en-US" sz="1500" dirty="0"/>
          </a:p>
        </p:txBody>
      </p:sp>
      <p:sp>
        <p:nvSpPr>
          <p:cNvPr id="36" name="Shape 29"/>
          <p:cNvSpPr/>
          <p:nvPr/>
        </p:nvSpPr>
        <p:spPr>
          <a:xfrm>
            <a:off x="5852160" y="5678424"/>
            <a:ext cx="0" cy="475488"/>
          </a:xfrm>
          <a:prstGeom prst="line">
            <a:avLst/>
          </a:prstGeom>
          <a:noFill/>
          <a:ln w="12700">
            <a:solidFill>
              <a:srgbClr val="D5DCE4"/>
            </a:solidFill>
            <a:prstDash val="solid"/>
          </a:ln>
        </p:spPr>
        <p:txBody>
          <a:bodyPr/>
          <a:p/>
        </p:txBody>
      </p:sp>
      <p:sp>
        <p:nvSpPr>
          <p:cNvPr id="37" name="Text 30"/>
          <p:cNvSpPr/>
          <p:nvPr/>
        </p:nvSpPr>
        <p:spPr>
          <a:xfrm>
            <a:off x="5989320" y="5495544"/>
            <a:ext cx="36576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800" dirty="0"/>
          </a:p>
        </p:txBody>
      </p:sp>
      <p:sp>
        <p:nvSpPr>
          <p:cNvPr id="38" name="Text 31"/>
          <p:cNvSpPr/>
          <p:nvPr/>
        </p:nvSpPr>
        <p:spPr>
          <a:xfrm>
            <a:off x="6446520" y="5495544"/>
            <a:ext cx="48463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+ офлайн-режим + сжатие фото + SMS</a:t>
            </a:r>
            <a:endParaRPr lang="en-US" sz="1300" dirty="0"/>
          </a:p>
        </p:txBody>
      </p:sp>
      <p:sp>
        <p:nvSpPr>
          <p:cNvPr id="39" name="Text 32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40" name="Text 33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38912"/>
            <a:ext cx="10881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РАЗДЕЛ 16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694944"/>
            <a:ext cx="10881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B3A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Видение на 5 лет</a:t>
            </a:r>
            <a:endParaRPr lang="en-US" sz="2900" dirty="0"/>
          </a:p>
        </p:txBody>
      </p:sp>
      <p:sp>
        <p:nvSpPr>
          <p:cNvPr id="4" name="Shape 2"/>
          <p:cNvSpPr/>
          <p:nvPr/>
        </p:nvSpPr>
        <p:spPr>
          <a:xfrm>
            <a:off x="1554480" y="5760720"/>
            <a:ext cx="26060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5" name="Shape 3"/>
          <p:cNvSpPr/>
          <p:nvPr/>
        </p:nvSpPr>
        <p:spPr>
          <a:xfrm>
            <a:off x="4160520" y="4800600"/>
            <a:ext cx="26060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6" name="Shape 4"/>
          <p:cNvSpPr/>
          <p:nvPr/>
        </p:nvSpPr>
        <p:spPr>
          <a:xfrm>
            <a:off x="6766560" y="3840480"/>
            <a:ext cx="260604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dash"/>
          </a:ln>
        </p:spPr>
        <p:txBody>
          <a:bodyPr/>
          <a:p/>
        </p:txBody>
      </p:sp>
      <p:sp>
        <p:nvSpPr>
          <p:cNvPr id="7" name="Shape 5"/>
          <p:cNvSpPr/>
          <p:nvPr/>
        </p:nvSpPr>
        <p:spPr>
          <a:xfrm>
            <a:off x="1097280" y="493776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8" name="Shape 6"/>
          <p:cNvSpPr/>
          <p:nvPr/>
        </p:nvSpPr>
        <p:spPr>
          <a:xfrm>
            <a:off x="1097280" y="493776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9" name="Shape 7"/>
          <p:cNvSpPr/>
          <p:nvPr/>
        </p:nvSpPr>
        <p:spPr>
          <a:xfrm>
            <a:off x="1097280" y="5212080"/>
            <a:ext cx="2331720" cy="22860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1097280" y="498348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234440" y="553212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Таджикистан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234440" y="596188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15K DAU · 2K школ · $136K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703320" y="397764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14" name="Shape 12"/>
          <p:cNvSpPr/>
          <p:nvPr/>
        </p:nvSpPr>
        <p:spPr>
          <a:xfrm>
            <a:off x="3703320" y="397764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15" name="Shape 13"/>
          <p:cNvSpPr/>
          <p:nvPr/>
        </p:nvSpPr>
        <p:spPr>
          <a:xfrm>
            <a:off x="3703320" y="4251960"/>
            <a:ext cx="2331720" cy="228600"/>
          </a:xfrm>
          <a:prstGeom prst="rect">
            <a:avLst/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3703320" y="402336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2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840480" y="457200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Узбекистан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840480" y="500176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50K DAU · $400K MRR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309360" y="301752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0" name="Shape 18"/>
          <p:cNvSpPr/>
          <p:nvPr/>
        </p:nvSpPr>
        <p:spPr>
          <a:xfrm>
            <a:off x="6309360" y="301752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2331720" cy="228600"/>
          </a:xfrm>
          <a:prstGeom prst="rect">
            <a:avLst/>
          </a:prstGeom>
          <a:solidFill>
            <a:srgbClr val="2E7D9A"/>
          </a:solidFill>
          <a:ln/>
        </p:spPr>
        <p:txBody>
          <a:bodyPr/>
          <a:p/>
        </p:txBody>
      </p:sp>
      <p:sp>
        <p:nvSpPr>
          <p:cNvPr id="22" name="Text 20"/>
          <p:cNvSpPr/>
          <p:nvPr/>
        </p:nvSpPr>
        <p:spPr>
          <a:xfrm>
            <a:off x="6309360" y="306324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3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446520" y="361188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Кыргызстан, Казахстан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446520" y="404164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200K DAU · Series A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8915400" y="2057400"/>
            <a:ext cx="23317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D5DCE4"/>
            </a:solidFill>
            <a:prstDash val="solid"/>
          </a:ln>
          <a:effectLst>
            <a:outerShdw sx="100000" sy="100000" kx="0" ky="0" algn="bl" rotWithShape="0" blurRad="76200" dist="38100" dir="5400000">
              <a:srgbClr val="999999">
                <a:alpha val="20000"/>
              </a:srgbClr>
            </a:outerShdw>
          </a:effectLst>
        </p:spPr>
        <p:txBody>
          <a:bodyPr/>
          <a:p/>
        </p:txBody>
      </p:sp>
      <p:sp>
        <p:nvSpPr>
          <p:cNvPr id="26" name="Shape 24"/>
          <p:cNvSpPr/>
          <p:nvPr/>
        </p:nvSpPr>
        <p:spPr>
          <a:xfrm>
            <a:off x="8915400" y="2057400"/>
            <a:ext cx="2331720" cy="502920"/>
          </a:xfrm>
          <a:prstGeom prst="roundRect">
            <a:avLst>
              <a:gd name="adj" fmla="val 18182"/>
            </a:avLst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7" name="Shape 25"/>
          <p:cNvSpPr/>
          <p:nvPr/>
        </p:nvSpPr>
        <p:spPr>
          <a:xfrm>
            <a:off x="8915400" y="2331720"/>
            <a:ext cx="2331720" cy="228600"/>
          </a:xfrm>
          <a:prstGeom prst="rect">
            <a:avLst/>
          </a:prstGeom>
          <a:solidFill>
            <a:srgbClr val="C9A227"/>
          </a:solidFill>
          <a:ln/>
        </p:spPr>
        <p:txBody>
          <a:bodyPr/>
          <a:p/>
        </p:txBody>
      </p:sp>
      <p:sp>
        <p:nvSpPr>
          <p:cNvPr id="28" name="Text 26"/>
          <p:cNvSpPr/>
          <p:nvPr/>
        </p:nvSpPr>
        <p:spPr>
          <a:xfrm>
            <a:off x="8915400" y="2103120"/>
            <a:ext cx="2331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Год 4–5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9052560" y="2651760"/>
            <a:ext cx="2057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A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Весь СНГ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9052560" y="3081528"/>
            <a:ext cx="2057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0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1M+ DAU · оценка и IPO — по факту роста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640080" y="64739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A5A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82880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Давайте вместе улучшим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914400" y="2606040"/>
            <a:ext cx="103327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образование </a:t>
            </a:r>
            <a:pPr algn="ctr" indent="0" marL="0">
              <a:buNone/>
            </a:pPr>
            <a:r>
              <a:rPr lang="en-US" sz="40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Таджикистана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5029200" y="3611880"/>
            <a:ext cx="2103120" cy="0"/>
          </a:xfrm>
          <a:prstGeom prst="line">
            <a:avLst/>
          </a:prstGeom>
          <a:noFill/>
          <a:ln w="31750">
            <a:solidFill>
              <a:srgbClr val="C9A227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1828800" y="3840480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16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Начинаем с честного MVP: поиск, сравнение и проверенные отзывы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2743200" y="4800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$136K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2743200" y="5394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доход год 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983480" y="4800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18–24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4983480" y="5394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мес. до окупаемости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7223760" y="4800600"/>
            <a:ext cx="21945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C9A227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1M+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7223760" y="5394960"/>
            <a:ext cx="21945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DAU через 5 лет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14400" y="6126480"/>
            <a:ext cx="10332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EduHub Tajikistan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24</Slides>
  <Notes>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2026-08-05T08:14:44Z</dcterms:created>
  <dcterms:modified xsi:type="dcterms:W3CDTF">2026-08-05T08:14:44Z</dcterms:modified>
</cp:coreProperties>
</file>