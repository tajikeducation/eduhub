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Доход, $K</c:v>
                </c:pt>
              </c:strCache>
            </c:strRef>
          </c:tx>
          <c:spPr>
            <a:solidFill>
              <a:srgbClr val="1B3A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B3A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Кв.1 · MVP</c:v>
                  </c:pt>
                  <c:pt idx="1">
                    <c:v>Кв.2</c:v>
                  </c:pt>
                  <c:pt idx="2">
                    <c:v>Кв.3</c:v>
                  </c:pt>
                  <c:pt idx="3">
                    <c:v>Кв.4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1.5</c:v>
                </c:pt>
                <c:pt idx="1">
                  <c:v>7</c:v>
                </c:pt>
                <c:pt idx="2">
                  <c:v>21</c:v>
                </c:pt>
                <c:pt idx="3">
                  <c:v>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B3A5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EduHub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868680" y="30632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TAJIKISTAN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3794760"/>
            <a:ext cx="292608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402336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«TripAdvisor для образования» — поиск, сравнение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честные отзывы об учреждениях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5120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Детские сады</a:t>
            </a:r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Школы</a:t>
            </a:r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Центры</a:t>
            </a:r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Вузы</a:t>
            </a:r>
            <a:endParaRPr lang="en-US" sz="1500" dirty="0"/>
          </a:p>
        </p:txBody>
      </p:sp>
      <p:pic>
        <p:nvPicPr>
          <p:cNvPr id="7" name="Image 0" descr="./deck_bg/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737360"/>
            <a:ext cx="3566160" cy="35661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6126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Бизнес-план и концепция  ·  Версия 3.2  ·  Август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 в образовательной системе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6675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Родители тратят дни на поиск. Информация разбросана, честных отзывов нет, учреждения не могут привлечь учеников.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68580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482596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7" name="Image 0" descr="./deck_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618659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36192" y="2441448"/>
            <a:ext cx="5806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Разрозненная информация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536192" y="2752344"/>
            <a:ext cx="5806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ВК, WhatsApp, слухи — единого источника нет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3401568"/>
            <a:ext cx="6858000" cy="868680"/>
          </a:xfrm>
          <a:prstGeom prst="roundRect">
            <a:avLst>
              <a:gd name="adj" fmla="val 6316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822960" y="3552444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2" name="Image 1" descr="./deck_icons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023" y="3688507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36192" y="3511296"/>
            <a:ext cx="5806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честных отзывов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536192" y="3822192"/>
            <a:ext cx="5806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 фейка, школы хвалят сами себя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71416"/>
            <a:ext cx="68580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22960" y="4622292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7" name="Image 2" descr="./deck_icons/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023" y="4758355"/>
            <a:ext cx="294803" cy="29480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36192" y="4581144"/>
            <a:ext cx="5806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Учреждения теряют учеников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536192" y="4892040"/>
            <a:ext cx="5806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эффективного канала привлечения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5541264"/>
            <a:ext cx="6858000" cy="868680"/>
          </a:xfrm>
          <a:prstGeom prst="roundRect">
            <a:avLst>
              <a:gd name="adj" fmla="val 6316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822960" y="5692140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2" name="Image 3" descr="./deck_icons/doll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023" y="5828203"/>
            <a:ext cx="294803" cy="29480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36192" y="5650992"/>
            <a:ext cx="5806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Скрытые расходы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536192" y="5961888"/>
            <a:ext cx="5806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Реальная стоимость неизвестна заранее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772400" y="1371600"/>
            <a:ext cx="3794760" cy="4800600"/>
          </a:xfrm>
          <a:prstGeom prst="roundRect">
            <a:avLst>
              <a:gd name="adj" fmla="val 2410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8046720" y="16459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 ПРОБЛЕМЫ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8046720" y="21031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9.5M</a:t>
            </a:r>
            <a:endParaRPr lang="en-US" sz="3400" dirty="0"/>
          </a:p>
        </p:txBody>
      </p:sp>
      <p:sp>
        <p:nvSpPr>
          <p:cNvPr id="28" name="Text 22"/>
          <p:cNvSpPr/>
          <p:nvPr/>
        </p:nvSpPr>
        <p:spPr>
          <a:xfrm>
            <a:off x="8046720" y="263347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Население Таджикистана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8046720" y="3090672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2.5M+</a:t>
            </a:r>
            <a:endParaRPr lang="en-US" sz="3400" dirty="0"/>
          </a:p>
        </p:txBody>
      </p:sp>
      <p:sp>
        <p:nvSpPr>
          <p:cNvPr id="30" name="Text 24"/>
          <p:cNvSpPr/>
          <p:nvPr/>
        </p:nvSpPr>
        <p:spPr>
          <a:xfrm>
            <a:off x="8046720" y="3621024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Потенциальных пользователей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8046720" y="4078224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8 000+</a:t>
            </a:r>
            <a:endParaRPr lang="en-US" sz="3400" dirty="0"/>
          </a:p>
        </p:txBody>
      </p:sp>
      <p:sp>
        <p:nvSpPr>
          <p:cNvPr id="32" name="Text 26"/>
          <p:cNvSpPr/>
          <p:nvPr/>
        </p:nvSpPr>
        <p:spPr>
          <a:xfrm>
            <a:off x="8046720" y="4608576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Учреждений в стране</a:t>
            </a:r>
            <a:endParaRPr lang="en-US" sz="1200" dirty="0"/>
          </a:p>
        </p:txBody>
      </p:sp>
      <p:sp>
        <p:nvSpPr>
          <p:cNvPr id="33" name="Text 27"/>
          <p:cNvSpPr/>
          <p:nvPr/>
        </p:nvSpPr>
        <p:spPr>
          <a:xfrm>
            <a:off x="8046720" y="506577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34" name="Text 28"/>
          <p:cNvSpPr/>
          <p:nvPr/>
        </p:nvSpPr>
        <p:spPr>
          <a:xfrm>
            <a:off x="8046720" y="559612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Конкурентов в нише</a:t>
            </a:r>
            <a:endParaRPr lang="en-US" sz="1200" dirty="0"/>
          </a:p>
        </p:txBody>
      </p:sp>
      <p:sp>
        <p:nvSpPr>
          <p:cNvPr id="35" name="Text 29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6" name="Text 3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Решение: доверенное место выбора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собирает всё, что нужно для выбора, в одном месте — и подтверждает это честными отзывами.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2286000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7" name="Image 0" descr="./deck_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450592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017520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типы учреждений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3355848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детских садов до вузов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98264" y="2057400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626864" y="2286000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2" name="Image 1" descr="./deck_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5059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26864" y="3017520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Верифицированные отзывы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626864" y="3355848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реальные родители — это наша защита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156448" y="2057400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385048" y="2286000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7" name="Image 2" descr="./deck_icons/s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450592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85048" y="3017520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метрик рейтинга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385048" y="3355848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Честная оценка по всем параметрам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059936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868680" y="4288536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2" name="Image 3" descr="./deck_icons/ma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" y="4453128"/>
            <a:ext cx="356616" cy="35661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8680" y="5020056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Развозка и питание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868680" y="5358384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информация для сравнения, а не сервис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98264" y="4059936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4626864" y="4288536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7" name="Image 4" descr="./deck_icons/doll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1456" y="4453128"/>
            <a:ext cx="356616" cy="35661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626864" y="5020056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Прозрачная стоимость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4626864" y="5358384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цена видна заранее, без сюрпризов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156448" y="4059936"/>
            <a:ext cx="353872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31" name="Shape 24"/>
          <p:cNvSpPr/>
          <p:nvPr/>
        </p:nvSpPr>
        <p:spPr>
          <a:xfrm>
            <a:off x="8385048" y="4288536"/>
            <a:ext cx="685800" cy="68580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32" name="Image 5" descr="./deck_icons/awar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640" y="4453128"/>
            <a:ext cx="356616" cy="35661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85048" y="5020056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mover</a:t>
            </a:r>
            <a:endParaRPr lang="en-US" sz="1500" dirty="0"/>
          </a:p>
        </p:txBody>
      </p:sp>
      <p:sp>
        <p:nvSpPr>
          <p:cNvPr id="34" name="Text 26"/>
          <p:cNvSpPr/>
          <p:nvPr/>
        </p:nvSpPr>
        <p:spPr>
          <a:xfrm>
            <a:off x="8385048" y="5358384"/>
            <a:ext cx="3081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Первые в Таджикистане и СНГ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Полный спектр учреждений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103120" cy="3977640"/>
          </a:xfrm>
          <a:prstGeom prst="roundRect">
            <a:avLst>
              <a:gd name="adj" fmla="val 4348"/>
            </a:avLst>
          </a:prstGeom>
          <a:solidFill>
            <a:srgbClr val="F2F4F7"/>
          </a:solidFill>
          <a:ln/>
          <a:effectLst>
            <a:outerShdw sx="100000" sy="100000" kx="0" ky="0" algn="bl" rotWithShape="0" blurRad="63500" dist="254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188720" y="237744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./deck_icons/child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0122" y="2618842"/>
            <a:ext cx="523037" cy="52303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5661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Детский сад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31520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года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1097280" y="4398264"/>
            <a:ext cx="118872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77240" y="4544568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Уход, развитие,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008376" y="1965960"/>
            <a:ext cx="2103120" cy="3977640"/>
          </a:xfrm>
          <a:prstGeom prst="roundRect">
            <a:avLst>
              <a:gd name="adj" fmla="val 4348"/>
            </a:avLst>
          </a:prstGeom>
          <a:solidFill>
            <a:srgbClr val="1B3A5C"/>
          </a:solidFill>
          <a:ln/>
          <a:effectLst>
            <a:outerShdw sx="100000" sy="100000" kx="0" ky="0" algn="bl" rotWithShape="0" blurRad="63500" dist="254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3557016" y="2377440"/>
            <a:ext cx="1005840" cy="1005840"/>
          </a:xfrm>
          <a:prstGeom prst="ellipse">
            <a:avLst/>
          </a:prstGeom>
          <a:solidFill>
            <a:srgbClr val="0F2438"/>
          </a:solidFill>
          <a:ln/>
        </p:spPr>
        <p:txBody>
          <a:bodyPr/>
          <a:p/>
        </p:txBody>
      </p:sp>
      <p:pic>
        <p:nvPicPr>
          <p:cNvPr id="13" name="Image 1" descr="./deck_icons/book_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8418" y="2618842"/>
            <a:ext cx="523037" cy="52303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099816" y="35661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Дошкольное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3099816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3–7 лет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3465576" y="4398264"/>
            <a:ext cx="1188720" cy="0"/>
          </a:xfrm>
          <a:prstGeom prst="line">
            <a:avLst/>
          </a:prstGeom>
          <a:noFill/>
          <a:ln w="12700">
            <a:solidFill>
              <a:srgbClr val="3A5878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3145536" y="4544568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школе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376672" y="1965960"/>
            <a:ext cx="2103120" cy="3977640"/>
          </a:xfrm>
          <a:prstGeom prst="roundRect">
            <a:avLst>
              <a:gd name="adj" fmla="val 4348"/>
            </a:avLst>
          </a:prstGeom>
          <a:solidFill>
            <a:srgbClr val="F2F4F7"/>
          </a:solidFill>
          <a:ln/>
          <a:effectLst>
            <a:outerShdw sx="100000" sy="100000" kx="0" ky="0" algn="bl" rotWithShape="0" blurRad="63500" dist="254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5925312" y="237744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0" name="Image 2" descr="./deck_icons/school_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6714" y="2618842"/>
            <a:ext cx="523037" cy="52303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68112" y="35661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Школа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5468112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7–17 лет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5833872" y="4398264"/>
            <a:ext cx="118872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5513832" y="4544568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Основное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7744968" y="1965960"/>
            <a:ext cx="2103120" cy="3977640"/>
          </a:xfrm>
          <a:prstGeom prst="roundRect">
            <a:avLst>
              <a:gd name="adj" fmla="val 4348"/>
            </a:avLst>
          </a:prstGeom>
          <a:solidFill>
            <a:srgbClr val="1B3A5C"/>
          </a:solidFill>
          <a:ln/>
          <a:effectLst>
            <a:outerShdw sx="100000" sy="100000" kx="0" ky="0" algn="bl" rotWithShape="0" blurRad="63500" dist="254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8293608" y="2377440"/>
            <a:ext cx="1005840" cy="1005840"/>
          </a:xfrm>
          <a:prstGeom prst="ellipse">
            <a:avLst/>
          </a:prstGeom>
          <a:solidFill>
            <a:srgbClr val="0F2438"/>
          </a:solidFill>
          <a:ln/>
        </p:spPr>
        <p:txBody>
          <a:bodyPr/>
          <a:p/>
        </p:txBody>
      </p:sp>
      <p:pic>
        <p:nvPicPr>
          <p:cNvPr id="27" name="Image 3" descr="./deck_icons/paint_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5010" y="2618842"/>
            <a:ext cx="523037" cy="523037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836408" y="35661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Центры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7836408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любой возраст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8202168" y="4398264"/>
            <a:ext cx="1188720" cy="0"/>
          </a:xfrm>
          <a:prstGeom prst="line">
            <a:avLst/>
          </a:prstGeom>
          <a:noFill/>
          <a:ln w="12700">
            <a:solidFill>
              <a:srgbClr val="3A5878"/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7882128" y="4544568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Доп.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</a:t>
            </a:r>
            <a:endParaRPr lang="en-US" sz="1150" dirty="0"/>
          </a:p>
        </p:txBody>
      </p:sp>
      <p:sp>
        <p:nvSpPr>
          <p:cNvPr id="32" name="Shape 26"/>
          <p:cNvSpPr/>
          <p:nvPr/>
        </p:nvSpPr>
        <p:spPr>
          <a:xfrm>
            <a:off x="10113264" y="1965960"/>
            <a:ext cx="2103120" cy="3977640"/>
          </a:xfrm>
          <a:prstGeom prst="roundRect">
            <a:avLst>
              <a:gd name="adj" fmla="val 4348"/>
            </a:avLst>
          </a:prstGeom>
          <a:solidFill>
            <a:srgbClr val="F2F4F7"/>
          </a:solidFill>
          <a:ln/>
          <a:effectLst>
            <a:outerShdw sx="100000" sy="100000" kx="0" ky="0" algn="bl" rotWithShape="0" blurRad="63500" dist="254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33" name="Shape 27"/>
          <p:cNvSpPr/>
          <p:nvPr/>
        </p:nvSpPr>
        <p:spPr>
          <a:xfrm>
            <a:off x="10661904" y="237744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4" name="Image 4" descr="./deck_icons/grad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03306" y="2618842"/>
            <a:ext cx="523037" cy="52303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0204704" y="35661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Вузы</a:t>
            </a:r>
            <a:endParaRPr lang="en-US" sz="1700" dirty="0"/>
          </a:p>
        </p:txBody>
      </p:sp>
      <p:sp>
        <p:nvSpPr>
          <p:cNvPr id="36" name="Text 29"/>
          <p:cNvSpPr/>
          <p:nvPr/>
        </p:nvSpPr>
        <p:spPr>
          <a:xfrm>
            <a:off x="10204704" y="3977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18+</a:t>
            </a:r>
            <a:endParaRPr lang="en-US" sz="1250" dirty="0"/>
          </a:p>
        </p:txBody>
      </p:sp>
      <p:sp>
        <p:nvSpPr>
          <p:cNvPr id="37" name="Shape 30"/>
          <p:cNvSpPr/>
          <p:nvPr/>
        </p:nvSpPr>
        <p:spPr>
          <a:xfrm>
            <a:off x="10570464" y="4398264"/>
            <a:ext cx="118872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8" name="Text 31"/>
          <p:cNvSpPr/>
          <p:nvPr/>
        </p:nvSpPr>
        <p:spPr>
          <a:xfrm>
            <a:off x="10250424" y="4544568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Университеты,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колледжи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тип имеет собственную структуру информации и отдельные метрики рейтинга.</a:t>
            </a:r>
            <a:endParaRPr lang="en-US" sz="1200" dirty="0"/>
          </a:p>
        </p:txBody>
      </p:sp>
      <p:sp>
        <p:nvSpPr>
          <p:cNvPr id="40" name="Text 33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41" name="Text 34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 · ТИП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Детский сад (1–3 года)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200400" cy="4572000"/>
          </a:xfrm>
          <a:prstGeom prst="roundRect">
            <a:avLst>
              <a:gd name="adj" fmla="val 3429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463040" y="2057400"/>
            <a:ext cx="1554480" cy="15544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./deck_icons/child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115" y="2430475"/>
            <a:ext cx="808330" cy="8083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 1–3 года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80160" y="4251960"/>
            <a:ext cx="192024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4389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 на платформе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754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Безопасность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Персонал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Условия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Питание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Развозка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информация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14884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3" name="Image 1" descr="./deck_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941" y="22695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2040" y="2148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квалификация, опыт, соотношение к детям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206240" y="2807208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foo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941" y="2927909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92040" y="2807208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наличие, тип, стоимость, халяль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206240" y="3465576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9" name="Image 3" descr="./deck_icons/he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941" y="3586277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892040" y="3465576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игры, творчество, программа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4206240" y="4123944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2" name="Image 4" descr="./deck_icons/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941" y="4244645"/>
            <a:ext cx="261518" cy="26151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892040" y="4123944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тип, стоимость, охват районов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4206240" y="4782312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5" name="Image 5" descr="./deck_icons/doll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941" y="4903013"/>
            <a:ext cx="261518" cy="26151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892040" y="4782312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стоимость, скидки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4206240" y="544068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8" name="Image 6" descr="./deck_icons/shie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6941" y="5561381"/>
            <a:ext cx="261518" cy="26151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892040" y="54406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охрана, видеонаблюдение</a:t>
            </a:r>
            <a:endParaRPr lang="en-US" sz="1250" dirty="0"/>
          </a:p>
        </p:txBody>
      </p:sp>
      <p:sp>
        <p:nvSpPr>
          <p:cNvPr id="30" name="Text 2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 · ТИП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Дошкольное образование (3–7 лет)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200400" cy="4572000"/>
          </a:xfrm>
          <a:prstGeom prst="roundRect">
            <a:avLst>
              <a:gd name="adj" fmla="val 3429"/>
            </a:avLst>
          </a:prstGeom>
          <a:solidFill>
            <a:srgbClr val="2E7D9A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463040" y="2057400"/>
            <a:ext cx="1554480" cy="15544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./deck_icons/book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115" y="2430475"/>
            <a:ext cx="808330" cy="8083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 3–7 лет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80160" y="4251960"/>
            <a:ext cx="192024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4389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 на платформе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754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Качество подготовки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Персонал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Развозка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Питание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Инклюзивность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информация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14884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3" name="Image 1" descr="./deck_icons/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941" y="22695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2040" y="2148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программа, методики, результаты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206240" y="2807208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941" y="2927909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92040" y="2807208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Учителя: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квалификация, опыт, фото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206240" y="3465576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9" name="Image 3" descr="./deck_icons/pai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941" y="3586277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892040" y="3465576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Кружки: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творчество, спорт, языки, музыка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4206240" y="4123944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2" name="Image 4" descr="./deck_icons/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941" y="4244645"/>
            <a:ext cx="261518" cy="26151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892040" y="4123944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тип, стоимость, охват районов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4206240" y="4782312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5" name="Image 5" descr="./deck_icons/foo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941" y="4903013"/>
            <a:ext cx="261518" cy="26151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892040" y="4782312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наличие, тип, стоимость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4206240" y="544068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8" name="Image 6" descr="./deck_icons/st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6941" y="5561381"/>
            <a:ext cx="261518" cy="26151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892040" y="54406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логопед, психолог</a:t>
            </a:r>
            <a:endParaRPr lang="en-US" sz="1250" dirty="0"/>
          </a:p>
        </p:txBody>
      </p:sp>
      <p:sp>
        <p:nvSpPr>
          <p:cNvPr id="30" name="Text 2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 · ТИП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Школы (7–17 лет)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200400" cy="4572000"/>
          </a:xfrm>
          <a:prstGeom prst="roundRect">
            <a:avLst>
              <a:gd name="adj" fmla="val 3429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463040" y="2057400"/>
            <a:ext cx="1554480" cy="15544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./deck_icons/school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115" y="2430475"/>
            <a:ext cx="808330" cy="8083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 7–17 лет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80160" y="4251960"/>
            <a:ext cx="192024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4389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 на платформе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754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Качество образования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Безопасность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Персонал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Питание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Развозка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Цена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информация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14884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3" name="Image 1" descr="./deck_icons/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941" y="22695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2040" y="2148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Программы: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государственная, русская, IB, Cambridge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206240" y="2807208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941" y="2927909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92040" y="2807208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Учителя: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квалификация, достижения, отзывы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206240" y="3465576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9" name="Image 3" descr="./deck_icons/aw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941" y="3586277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892040" y="3465576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Кружки и спорт: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тренеры, результаты олимпиад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4206240" y="4123944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2" name="Image 4" descr="./deck_icons/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941" y="4244645"/>
            <a:ext cx="261518" cy="26151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892040" y="4123944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тип, стоимость, охват районов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4206240" y="4782312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5" name="Image 5" descr="./deck_icons/foo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941" y="4903013"/>
            <a:ext cx="261518" cy="26151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892040" y="4782312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наличие, тип, стоимость, халяль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4206240" y="544068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8" name="Image 6" descr="./deck_icons/doll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6941" y="5561381"/>
            <a:ext cx="261518" cy="26151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892040" y="54406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Финансы: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стоимость всех услуг</a:t>
            </a:r>
            <a:endParaRPr lang="en-US" sz="1250" dirty="0"/>
          </a:p>
        </p:txBody>
      </p:sp>
      <p:sp>
        <p:nvSpPr>
          <p:cNvPr id="30" name="Text 2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 · ТИП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Центры доп. образования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200400" cy="4572000"/>
          </a:xfrm>
          <a:prstGeom prst="roundRect">
            <a:avLst>
              <a:gd name="adj" fmla="val 3429"/>
            </a:avLst>
          </a:prstGeom>
          <a:solidFill>
            <a:srgbClr val="2E7D9A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463040" y="2057400"/>
            <a:ext cx="1554480" cy="15544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./deck_icons/paint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115" y="2430475"/>
            <a:ext cx="808330" cy="8083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возрасты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80160" y="4251960"/>
            <a:ext cx="192024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4389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 на платформе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754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Качество обучения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Результаты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Педагоги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Материалы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Цена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информация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14884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3" name="Image 1" descr="./deck_icons/gr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941" y="22695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2040" y="2148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творчество, спорт, языки, STEM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206240" y="2807208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941" y="2927909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92040" y="2807208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Специалисты: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тренеры, сертификации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206240" y="3465576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9" name="Image 3" descr="./deck_icons/calend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941" y="3586277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892040" y="3465576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Расписание: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групповые/индивидуальные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4206240" y="4123944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2" name="Image 4" descr="./deck_icons/aw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941" y="4244645"/>
            <a:ext cx="261518" cy="26151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892040" y="4123944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Достижения: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выставки, чемпионаты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4206240" y="4782312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5" name="Image 5" descr="./deck_icons/ma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941" y="4903013"/>
            <a:ext cx="261518" cy="26151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892040" y="4782312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ближайших центров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4206240" y="544068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8" name="Image 6" descr="./deck_icons/doll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6941" y="5561381"/>
            <a:ext cx="261518" cy="26151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892040" y="54406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пакеты, скидки</a:t>
            </a:r>
            <a:endParaRPr lang="en-US" sz="1250" dirty="0"/>
          </a:p>
        </p:txBody>
      </p:sp>
      <p:sp>
        <p:nvSpPr>
          <p:cNvPr id="30" name="Text 2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03 · ТИП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Высшие учебные заведения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200400" cy="4572000"/>
          </a:xfrm>
          <a:prstGeom prst="roundRect">
            <a:avLst>
              <a:gd name="adj" fmla="val 3429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463040" y="2057400"/>
            <a:ext cx="1554480" cy="15544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./deck_icons/grad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115" y="2430475"/>
            <a:ext cx="808330" cy="8083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 18+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80160" y="4251960"/>
            <a:ext cx="1920240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4389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 на платформе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754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Качество образования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Условия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Трудоустройство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Цена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Исследования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информация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14884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3" name="Image 1" descr="./deck_icons/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941" y="226954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2040" y="2148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Программы: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специальности, формат обучения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206240" y="2807208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941" y="2927909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92040" y="2807208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общежитие, стипендии, гранты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206240" y="3465576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9" name="Image 3" descr="./deck_icons/userTi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941" y="3586277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892040" y="3465576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профессора, исследователи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4206240" y="4123944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2" name="Image 4" descr="./deck_icons/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941" y="4244645"/>
            <a:ext cx="261518" cy="26151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892040" y="4123944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Инфраструктура: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лаборатории, библиотека, спорт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4206240" y="4782312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5" name="Image 5" descr="./deck_icons/briefca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941" y="4903013"/>
            <a:ext cx="261518" cy="26151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892040" y="4782312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Трудоустройство: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партнёры-работодатели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4206240" y="5440680"/>
            <a:ext cx="502920" cy="50292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8" name="Image 6" descr="./deck_icons/trend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6941" y="5561381"/>
            <a:ext cx="261518" cy="26151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892040" y="54406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Перспективы: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работают выпускники</a:t>
            </a:r>
            <a:endParaRPr lang="en-US" sz="1250" dirty="0"/>
          </a:p>
        </p:txBody>
      </p:sp>
      <p:sp>
        <p:nvSpPr>
          <p:cNvPr id="30" name="Text 2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Стороны платформы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— трёхсторонний рынок с первого дня: родители, учреждения и соискатели-педагоги.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40080" y="20116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2514600"/>
            <a:ext cx="3611880" cy="54864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14400" y="2267712"/>
            <a:ext cx="566928" cy="566928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p/>
        </p:txBody>
      </p:sp>
      <p:pic>
        <p:nvPicPr>
          <p:cNvPr id="9" name="Image 0" descr="./deck_icons/user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463" y="2403775"/>
            <a:ext cx="294803" cy="29480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2128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Родители и студенты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600200" y="259689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сравнение, отзывы, чат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14400" y="3291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07008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Централизованный поиск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14400" y="38404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207008" y="3840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2–3 учреждений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14400" y="4389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07008" y="43891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метрик и отзывы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914400" y="49377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207008" y="4937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с директором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914400" y="5486400"/>
            <a:ext cx="3063240" cy="457200"/>
          </a:xfrm>
          <a:prstGeom prst="roundRect">
            <a:avLst>
              <a:gd name="adj" fmla="val 12000"/>
            </a:avLst>
          </a:prstGeom>
          <a:solidFill>
            <a:srgbClr val="F2F4F7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51560" y="5513832"/>
            <a:ext cx="2880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· Бесплатно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471416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4471416" y="20116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7D9A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4471416" y="2514600"/>
            <a:ext cx="3611880" cy="548640"/>
          </a:xfrm>
          <a:prstGeom prst="rect">
            <a:avLst/>
          </a:prstGeom>
          <a:solidFill>
            <a:srgbClr val="2E7D9A"/>
          </a:solidFill>
          <a:ln/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4745736" y="2267712"/>
            <a:ext cx="566928" cy="566928"/>
          </a:xfrm>
          <a:prstGeom prst="ellipse">
            <a:avLst/>
          </a:prstGeom>
          <a:solidFill>
            <a:srgbClr val="2E7D9A"/>
          </a:solidFill>
          <a:ln/>
        </p:spPr>
        <p:txBody>
          <a:bodyPr/>
          <a:p/>
        </p:txBody>
      </p:sp>
      <p:pic>
        <p:nvPicPr>
          <p:cNvPr id="26" name="Image 1" descr="./deck_icons/hom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799" y="2403775"/>
            <a:ext cx="294803" cy="294803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431536" y="22128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Учреждения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5431536" y="259689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Профиль, аналитика, привлечение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745736" y="3291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038344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с фото и видео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745736" y="38404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5038344" y="3840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трафика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4745736" y="4389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5038344" y="43891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с родителями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4745736" y="49377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6" name="Text 32"/>
          <p:cNvSpPr/>
          <p:nvPr/>
        </p:nvSpPr>
        <p:spPr>
          <a:xfrm>
            <a:off x="5038344" y="4937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репутацией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4745736" y="5486400"/>
            <a:ext cx="3063240" cy="457200"/>
          </a:xfrm>
          <a:prstGeom prst="roundRect">
            <a:avLst>
              <a:gd name="adj" fmla="val 12000"/>
            </a:avLst>
          </a:prstGeom>
          <a:solidFill>
            <a:srgbClr val="F2F4F7"/>
          </a:solidFill>
          <a:ln/>
        </p:spPr>
        <p:txBody>
          <a:bodyPr/>
          <a:p/>
        </p:txBody>
      </p:sp>
      <p:sp>
        <p:nvSpPr>
          <p:cNvPr id="38" name="Text 34"/>
          <p:cNvSpPr/>
          <p:nvPr/>
        </p:nvSpPr>
        <p:spPr>
          <a:xfrm>
            <a:off x="4882896" y="5513832"/>
            <a:ext cx="2880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· Free / $30 / $100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8302752" y="201168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40" name="Shape 36"/>
          <p:cNvSpPr/>
          <p:nvPr/>
        </p:nvSpPr>
        <p:spPr>
          <a:xfrm>
            <a:off x="8302752" y="20116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5A5A5A"/>
          </a:solidFill>
          <a:ln/>
        </p:spPr>
        <p:txBody>
          <a:bodyPr/>
          <a:p/>
        </p:txBody>
      </p:sp>
      <p:sp>
        <p:nvSpPr>
          <p:cNvPr id="41" name="Shape 37"/>
          <p:cNvSpPr/>
          <p:nvPr/>
        </p:nvSpPr>
        <p:spPr>
          <a:xfrm>
            <a:off x="8302752" y="2514600"/>
            <a:ext cx="3611880" cy="548640"/>
          </a:xfrm>
          <a:prstGeom prst="rect">
            <a:avLst/>
          </a:prstGeom>
          <a:solidFill>
            <a:srgbClr val="5A5A5A"/>
          </a:solidFill>
          <a:ln/>
        </p:spPr>
        <p:txBody>
          <a:bodyPr/>
          <a:p/>
        </p:txBody>
      </p:sp>
      <p:sp>
        <p:nvSpPr>
          <p:cNvPr id="42" name="Shape 38"/>
          <p:cNvSpPr/>
          <p:nvPr/>
        </p:nvSpPr>
        <p:spPr>
          <a:xfrm>
            <a:off x="8577072" y="226771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3" name="Image 2" descr="./deck_icons/briefc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3135" y="2403775"/>
            <a:ext cx="294803" cy="294803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9262872" y="22128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Соискатели</a:t>
            </a:r>
            <a:endParaRPr lang="en-US" sz="1500" dirty="0"/>
          </a:p>
        </p:txBody>
      </p:sp>
      <p:sp>
        <p:nvSpPr>
          <p:cNvPr id="45" name="Text 40"/>
          <p:cNvSpPr/>
          <p:nvPr/>
        </p:nvSpPr>
        <p:spPr>
          <a:xfrm>
            <a:off x="9262872" y="2596896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Вакансии, отзывы о работодателе</a:t>
            </a:r>
            <a:endParaRPr lang="en-US" sz="1050" dirty="0"/>
          </a:p>
        </p:txBody>
      </p:sp>
      <p:sp>
        <p:nvSpPr>
          <p:cNvPr id="46" name="Text 41"/>
          <p:cNvSpPr/>
          <p:nvPr/>
        </p:nvSpPr>
        <p:spPr>
          <a:xfrm>
            <a:off x="8577072" y="3291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7" name="Text 42"/>
          <p:cNvSpPr/>
          <p:nvPr/>
        </p:nvSpPr>
        <p:spPr>
          <a:xfrm>
            <a:off x="8869680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вакансий</a:t>
            </a:r>
            <a:endParaRPr lang="en-US" sz="1200" dirty="0"/>
          </a:p>
        </p:txBody>
      </p:sp>
      <p:sp>
        <p:nvSpPr>
          <p:cNvPr id="48" name="Text 43"/>
          <p:cNvSpPr/>
          <p:nvPr/>
        </p:nvSpPr>
        <p:spPr>
          <a:xfrm>
            <a:off x="8577072" y="38404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9" name="Text 44"/>
          <p:cNvSpPr/>
          <p:nvPr/>
        </p:nvSpPr>
        <p:spPr>
          <a:xfrm>
            <a:off x="8869680" y="3840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Отзывы сотрудников</a:t>
            </a:r>
            <a:endParaRPr lang="en-US" sz="1200" dirty="0"/>
          </a:p>
        </p:txBody>
      </p:sp>
      <p:sp>
        <p:nvSpPr>
          <p:cNvPr id="50" name="Text 45"/>
          <p:cNvSpPr/>
          <p:nvPr/>
        </p:nvSpPr>
        <p:spPr>
          <a:xfrm>
            <a:off x="8577072" y="4389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1" name="Text 46"/>
          <p:cNvSpPr/>
          <p:nvPr/>
        </p:nvSpPr>
        <p:spPr>
          <a:xfrm>
            <a:off x="8869680" y="43891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Портфолио и отклики</a:t>
            </a:r>
            <a:endParaRPr lang="en-US" sz="1200" dirty="0"/>
          </a:p>
        </p:txBody>
      </p:sp>
      <p:sp>
        <p:nvSpPr>
          <p:cNvPr id="52" name="Text 47"/>
          <p:cNvSpPr/>
          <p:nvPr/>
        </p:nvSpPr>
        <p:spPr>
          <a:xfrm>
            <a:off x="8577072" y="49377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3" name="Text 48"/>
          <p:cNvSpPr/>
          <p:nvPr/>
        </p:nvSpPr>
        <p:spPr>
          <a:xfrm>
            <a:off x="8869680" y="4937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Контакт с директором</a:t>
            </a:r>
            <a:endParaRPr lang="en-US" sz="1200" dirty="0"/>
          </a:p>
        </p:txBody>
      </p:sp>
      <p:sp>
        <p:nvSpPr>
          <p:cNvPr id="54" name="Shape 49"/>
          <p:cNvSpPr/>
          <p:nvPr/>
        </p:nvSpPr>
        <p:spPr>
          <a:xfrm>
            <a:off x="8577072" y="5486400"/>
            <a:ext cx="3063240" cy="457200"/>
          </a:xfrm>
          <a:prstGeom prst="roundRect">
            <a:avLst>
              <a:gd name="adj" fmla="val 12000"/>
            </a:avLst>
          </a:prstGeom>
          <a:solidFill>
            <a:srgbClr val="F2F4F7"/>
          </a:solidFill>
          <a:ln/>
        </p:spPr>
        <p:txBody>
          <a:bodyPr/>
          <a:p/>
        </p:txBody>
      </p:sp>
      <p:sp>
        <p:nvSpPr>
          <p:cNvPr id="55" name="Text 50"/>
          <p:cNvSpPr/>
          <p:nvPr/>
        </p:nvSpPr>
        <p:spPr>
          <a:xfrm>
            <a:off x="8714232" y="5513832"/>
            <a:ext cx="2880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· Бесплатно</a:t>
            </a:r>
            <a:endParaRPr lang="en-US" sz="1150" dirty="0"/>
          </a:p>
        </p:txBody>
      </p:sp>
      <p:sp>
        <p:nvSpPr>
          <p:cNvPr id="56" name="Text 51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57" name="Text 5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05 · РОЛЬ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Функции для родителей и студентов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025396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6" name="Image 0" descr="./deck_icons/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161459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36192" y="1801368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Умный поиск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36192" y="2112264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Фильтры: район, тип, цена, развозка, питание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72784" y="1691640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455664" y="2025396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1" name="Image 1" descr="./deck_icons/gr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1727" y="2161459"/>
            <a:ext cx="294803" cy="294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68896" y="1801368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168896" y="2112264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учреждения side-by-side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127248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22960" y="3461004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s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023" y="3597067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36192" y="3236976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рейтингов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536192" y="3547872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Качество, безопасность, питание, развозка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272784" y="3127248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455664" y="3461004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1" name="Image 3" descr="./deck_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727" y="3597067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68896" y="3236976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Честные отзывы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168896" y="3547872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родители, посещающие учреждение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40080" y="4562856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822960" y="4896612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6" name="Image 4" descr="./deck_icons/mess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023" y="5032675"/>
            <a:ext cx="294803" cy="29480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36192" y="4672584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1536192" y="4983480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директором без звонков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272784" y="4562856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6455664" y="4896612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31" name="Image 5" descr="./deck_icons/doll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727" y="5032675"/>
            <a:ext cx="294803" cy="29480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68896" y="4672584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Калькулятор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168896" y="4983480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стоимость всех услуг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05 · РОЛЬ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Функции для учреждений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025396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6" name="Image 0" descr="./deck_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161459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36192" y="1801368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Красивый профиль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36192" y="2112264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Описание, фото, видео, учителя, развозка, питание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72784" y="1691640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455664" y="2025396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1" name="Image 1" descr="./deck_icons/ed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1727" y="2161459"/>
            <a:ext cx="294803" cy="294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68896" y="1801368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168896" y="2112264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Информация, персонал, финансы, часы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3127248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22960" y="3461004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b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023" y="3597067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36192" y="3236976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536192" y="3547872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Просмотры, источники, клики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272784" y="3127248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455664" y="3461004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1" name="Image 3" descr="./deck_icons/mess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727" y="3597067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68896" y="3236976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168896" y="3547872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родителями, история разговоров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40080" y="4562856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822960" y="4896612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6" name="Image 4" descr="./deck_icons/st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023" y="5032675"/>
            <a:ext cx="294803" cy="29480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36192" y="4672584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отзывы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1536192" y="4983480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репутацией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272784" y="4562856"/>
            <a:ext cx="5367528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6455664" y="4896612"/>
            <a:ext cx="566928" cy="566928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31" name="Image 5" descr="./deck_icons/fla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727" y="5032675"/>
            <a:ext cx="294803" cy="29480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68896" y="4672584"/>
            <a:ext cx="43159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Новости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168896" y="4983480"/>
            <a:ext cx="43159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событий и достижений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Система рейтинга: 8 метрик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Вместо одной общей оценки — 8 независимых метрик (1–5★). Родитель видит сильные и слабые стороны.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23774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7" name="Image 0" descr="./deck_icons/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542032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355848" y="224028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1737360" y="248716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образования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398264" y="210312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654296" y="23774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2" name="Image 1" descr="./deck_icons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54203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14032" y="224028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5495544" y="248716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 и помещения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8156448" y="210312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12480" y="23774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7" name="Image 2" descr="./deck_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2542032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872216" y="224028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4"/>
          <p:cNvSpPr/>
          <p:nvPr/>
        </p:nvSpPr>
        <p:spPr>
          <a:xfrm>
            <a:off x="9253728" y="248716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</a:t>
            </a:r>
            <a:endParaRPr lang="en-US" sz="1450" dirty="0"/>
          </a:p>
        </p:txBody>
      </p:sp>
      <p:sp>
        <p:nvSpPr>
          <p:cNvPr id="20" name="Shape 15"/>
          <p:cNvSpPr/>
          <p:nvPr/>
        </p:nvSpPr>
        <p:spPr>
          <a:xfrm>
            <a:off x="640080" y="352044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896112" y="379476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2" name="Image 3" descr="./deck_icons/foo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959352"/>
            <a:ext cx="356616" cy="35661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3355848" y="365760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4" name="Text 18"/>
          <p:cNvSpPr/>
          <p:nvPr/>
        </p:nvSpPr>
        <p:spPr>
          <a:xfrm>
            <a:off x="1737360" y="390448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питания</a:t>
            </a:r>
            <a:endParaRPr lang="en-US" sz="1450" dirty="0"/>
          </a:p>
        </p:txBody>
      </p:sp>
      <p:sp>
        <p:nvSpPr>
          <p:cNvPr id="25" name="Shape 19"/>
          <p:cNvSpPr/>
          <p:nvPr/>
        </p:nvSpPr>
        <p:spPr>
          <a:xfrm>
            <a:off x="4398264" y="352044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4654296" y="379476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7" name="Image 4" descr="./deck_icons/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3959352"/>
            <a:ext cx="356616" cy="35661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14032" y="365760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9" name="Text 22"/>
          <p:cNvSpPr/>
          <p:nvPr/>
        </p:nvSpPr>
        <p:spPr>
          <a:xfrm>
            <a:off x="5495544" y="390448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развозки</a:t>
            </a:r>
            <a:endParaRPr lang="en-US" sz="1450" dirty="0"/>
          </a:p>
        </p:txBody>
      </p:sp>
      <p:sp>
        <p:nvSpPr>
          <p:cNvPr id="30" name="Shape 23"/>
          <p:cNvSpPr/>
          <p:nvPr/>
        </p:nvSpPr>
        <p:spPr>
          <a:xfrm>
            <a:off x="8156448" y="352044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1" name="Shape 24"/>
          <p:cNvSpPr/>
          <p:nvPr/>
        </p:nvSpPr>
        <p:spPr>
          <a:xfrm>
            <a:off x="8412480" y="379476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5" descr="./deck_icons/doll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7072" y="3959352"/>
            <a:ext cx="356616" cy="35661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10872216" y="365760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4" name="Text 26"/>
          <p:cNvSpPr/>
          <p:nvPr/>
        </p:nvSpPr>
        <p:spPr>
          <a:xfrm>
            <a:off x="9253728" y="390448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и стоимость</a:t>
            </a:r>
            <a:endParaRPr lang="en-US" sz="1450" dirty="0"/>
          </a:p>
        </p:txBody>
      </p:sp>
      <p:sp>
        <p:nvSpPr>
          <p:cNvPr id="35" name="Shape 27"/>
          <p:cNvSpPr/>
          <p:nvPr/>
        </p:nvSpPr>
        <p:spPr>
          <a:xfrm>
            <a:off x="640080" y="493776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6" name="Shape 28"/>
          <p:cNvSpPr/>
          <p:nvPr/>
        </p:nvSpPr>
        <p:spPr>
          <a:xfrm>
            <a:off x="896112" y="521208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7" name="Image 6" descr="./deck_icons/user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" y="5376672"/>
            <a:ext cx="356616" cy="356616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3355848" y="507492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9" name="Text 30"/>
          <p:cNvSpPr/>
          <p:nvPr/>
        </p:nvSpPr>
        <p:spPr>
          <a:xfrm>
            <a:off x="1737360" y="532180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Участие родителей</a:t>
            </a:r>
            <a:endParaRPr lang="en-US" sz="1450" dirty="0"/>
          </a:p>
        </p:txBody>
      </p:sp>
      <p:sp>
        <p:nvSpPr>
          <p:cNvPr id="40" name="Shape 31"/>
          <p:cNvSpPr/>
          <p:nvPr/>
        </p:nvSpPr>
        <p:spPr>
          <a:xfrm>
            <a:off x="4398264" y="493776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41" name="Shape 32"/>
          <p:cNvSpPr/>
          <p:nvPr/>
        </p:nvSpPr>
        <p:spPr>
          <a:xfrm>
            <a:off x="4654296" y="521208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2" name="Image 7" descr="./deck_icons/chec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18888" y="5376672"/>
            <a:ext cx="356616" cy="35661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114032" y="507492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5DC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44" name="Text 34"/>
          <p:cNvSpPr/>
          <p:nvPr/>
        </p:nvSpPr>
        <p:spPr>
          <a:xfrm>
            <a:off x="5495544" y="532180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Инклюзивность</a:t>
            </a:r>
            <a:endParaRPr lang="en-US" sz="1450" dirty="0"/>
          </a:p>
        </p:txBody>
      </p:sp>
      <p:sp>
        <p:nvSpPr>
          <p:cNvPr id="45" name="Shape 35"/>
          <p:cNvSpPr/>
          <p:nvPr/>
        </p:nvSpPr>
        <p:spPr>
          <a:xfrm>
            <a:off x="8156448" y="4937760"/>
            <a:ext cx="3538728" cy="1234440"/>
          </a:xfrm>
          <a:prstGeom prst="roundRect">
            <a:avLst>
              <a:gd name="adj" fmla="val 5926"/>
            </a:avLst>
          </a:prstGeom>
          <a:solidFill>
            <a:srgbClr val="C9A227"/>
          </a:solidFill>
          <a:ln w="952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46" name="Shape 36"/>
          <p:cNvSpPr/>
          <p:nvPr/>
        </p:nvSpPr>
        <p:spPr>
          <a:xfrm>
            <a:off x="8412480" y="5212080"/>
            <a:ext cx="685800" cy="685800"/>
          </a:xfrm>
          <a:prstGeom prst="ellipse">
            <a:avLst/>
          </a:prstGeom>
          <a:solidFill>
            <a:srgbClr val="B8941F"/>
          </a:solidFill>
          <a:ln/>
        </p:spPr>
        <p:txBody>
          <a:bodyPr/>
          <a:p/>
        </p:txBody>
      </p:sp>
      <p:pic>
        <p:nvPicPr>
          <p:cNvPr id="47" name="Image 8" descr="./deck_icons/star_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7072" y="5376672"/>
            <a:ext cx="356616" cy="356616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10872216" y="5074920"/>
            <a:ext cx="68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Ø</a:t>
            </a:r>
            <a:endParaRPr lang="en-US" sz="3000" dirty="0"/>
          </a:p>
        </p:txBody>
      </p:sp>
      <p:sp>
        <p:nvSpPr>
          <p:cNvPr id="49" name="Text 38"/>
          <p:cNvSpPr/>
          <p:nvPr/>
        </p:nvSpPr>
        <p:spPr>
          <a:xfrm>
            <a:off x="9253728" y="5321808"/>
            <a:ext cx="22585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рейтинг</a:t>
            </a:r>
            <a:endParaRPr lang="en-US" sz="1450" dirty="0"/>
          </a:p>
        </p:txBody>
      </p:sp>
      <p:sp>
        <p:nvSpPr>
          <p:cNvPr id="50" name="Text 39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51" name="Text 4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Чем мы отличаемся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67528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60120" y="1920240"/>
            <a:ext cx="868680" cy="8686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6" name="Image 0" descr="./deck_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8603" y="212872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57400" y="1965960"/>
            <a:ext cx="3721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Верифицированные отзывы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05840" y="2834640"/>
            <a:ext cx="46360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реальные родители с подтверждённой связью. Модерация перед публикацией. Это то, чего не даёт ни Google, ни соцсети.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72784" y="1600200"/>
            <a:ext cx="5367528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92824" y="1920240"/>
            <a:ext cx="868680" cy="8686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1" name="Image 1" descr="./deck_icons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1307" y="2128723"/>
            <a:ext cx="451714" cy="45171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90104" y="1965960"/>
            <a:ext cx="3721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метрик рейтинга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638544" y="2834640"/>
            <a:ext cx="46360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одна общая звезда, а честная оценка по качеству, безопасности, питанию, развозке и цене — раздельно.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40080" y="4069080"/>
            <a:ext cx="5367528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60120" y="4389120"/>
            <a:ext cx="868680" cy="8686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603" y="4597603"/>
            <a:ext cx="451714" cy="45171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057400" y="4434840"/>
            <a:ext cx="3721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Развозка и питание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005840" y="5303520"/>
            <a:ext cx="46360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Собраны в профиле как информация для сравнения: есть ли, какого типа и сколько стоит. Родителю это важно при выборе.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272784" y="4069080"/>
            <a:ext cx="5367528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592824" y="4389120"/>
            <a:ext cx="868680" cy="8686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1" name="Image 3" descr="./deck_icons/doll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307" y="4597603"/>
            <a:ext cx="451714" cy="45171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90104" y="4434840"/>
            <a:ext cx="3721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прозрачность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6638544" y="5303520"/>
            <a:ext cx="46360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Обучение, развозка, питание, кружки — суммарная стоимость видна сразу. Без скрытых платежей.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Адаптация к менталитету Таджикистана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КУЛЬТУРНАЯ ОСОБЕННОСТЬ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НАШЕ РЕШЕНИЕ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4937760" cy="868680"/>
          </a:xfrm>
          <a:prstGeom prst="roundRect">
            <a:avLst>
              <a:gd name="adj" fmla="val 7368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011680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Доверие рекомендациям знакомых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42432" y="2212848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742432" y="21854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355080" y="2011680"/>
            <a:ext cx="5166360" cy="868680"/>
          </a:xfrm>
          <a:prstGeom prst="roundRect">
            <a:avLst>
              <a:gd name="adj" fmla="val 7368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83680" y="201168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Реферальная система: «3 друга рекомендуют»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035808"/>
            <a:ext cx="4937760" cy="868680"/>
          </a:xfrm>
          <a:prstGeom prst="roundRect">
            <a:avLst>
              <a:gd name="adj" fmla="val 7368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3035808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— критический фактор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42432" y="3236976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742432" y="32095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355080" y="3035808"/>
            <a:ext cx="5166360" cy="868680"/>
          </a:xfrm>
          <a:prstGeom prst="roundRect">
            <a:avLst>
              <a:gd name="adj" fmla="val 7368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83680" y="3035808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Калькулятор полной месячной стоимости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059936"/>
            <a:ext cx="4937760" cy="868680"/>
          </a:xfrm>
          <a:prstGeom prst="roundRect">
            <a:avLst>
              <a:gd name="adj" fmla="val 7368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68680" y="4059936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Развозку часто ищут сами родители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742432" y="4261104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742432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355080" y="4059936"/>
            <a:ext cx="5166360" cy="868680"/>
          </a:xfrm>
          <a:prstGeom prst="roundRect">
            <a:avLst>
              <a:gd name="adj" fmla="val 7368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83680" y="4059936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Информация о развозке + доска района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4937760" cy="868680"/>
          </a:xfrm>
          <a:prstGeom prst="roundRect">
            <a:avLst>
              <a:gd name="adj" fmla="val 7368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5084064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 и WhatsApp — главные каналы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42432" y="5285232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742432" y="5257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355080" y="5084064"/>
            <a:ext cx="5166360" cy="868680"/>
          </a:xfrm>
          <a:prstGeom prst="roundRect">
            <a:avLst>
              <a:gd name="adj" fmla="val 7368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583680" y="5084064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ВК, Telegram, WhatsApp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09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Рынок Таджикистана — потенциал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14884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6" name="Image 0" descr="./deck_icons/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938" y="233537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10312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9.5 млн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914400" y="306324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Население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98264" y="182880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672584" y="214884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1" name="Image 1" descr="./deck_icons/child_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9122" y="233537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32704" y="210312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7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500K+</a:t>
            </a:r>
            <a:endParaRPr lang="en-US" sz="3200" dirty="0"/>
          </a:p>
        </p:txBody>
      </p:sp>
      <p:sp>
        <p:nvSpPr>
          <p:cNvPr id="13" name="Text 9"/>
          <p:cNvSpPr/>
          <p:nvPr/>
        </p:nvSpPr>
        <p:spPr>
          <a:xfrm>
            <a:off x="4672584" y="306324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Семьи с дошкольниками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56448" y="182880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430768" y="214884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6" name="Image 2" descr="./deck_icons/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306" y="233537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90888" y="210312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800K+</a:t>
            </a:r>
            <a:endParaRPr lang="en-US" sz="3200" dirty="0"/>
          </a:p>
        </p:txBody>
      </p:sp>
      <p:sp>
        <p:nvSpPr>
          <p:cNvPr id="18" name="Text 13"/>
          <p:cNvSpPr/>
          <p:nvPr/>
        </p:nvSpPr>
        <p:spPr>
          <a:xfrm>
            <a:off x="8430768" y="306324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Семьи со школьниками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40080" y="4069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914400" y="438912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1" name="Image 3" descr="./deck_icons/grad_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938" y="4575658"/>
            <a:ext cx="404165" cy="40416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874520" y="434340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7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200K+</a:t>
            </a:r>
            <a:endParaRPr lang="en-US" sz="3200" dirty="0"/>
          </a:p>
        </p:txBody>
      </p:sp>
      <p:sp>
        <p:nvSpPr>
          <p:cNvPr id="23" name="Text 17"/>
          <p:cNvSpPr/>
          <p:nvPr/>
        </p:nvSpPr>
        <p:spPr>
          <a:xfrm>
            <a:off x="914400" y="530352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Студенты вузов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398264" y="4069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4672584" y="438912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6" name="Image 4" descr="./deck_icons/ho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9122" y="4575658"/>
            <a:ext cx="404165" cy="40416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632704" y="434340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8 000+</a:t>
            </a:r>
            <a:endParaRPr lang="en-US" sz="3200" dirty="0"/>
          </a:p>
        </p:txBody>
      </p:sp>
      <p:sp>
        <p:nvSpPr>
          <p:cNvPr id="28" name="Text 21"/>
          <p:cNvSpPr/>
          <p:nvPr/>
        </p:nvSpPr>
        <p:spPr>
          <a:xfrm>
            <a:off x="4672584" y="530352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Учреждений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156448" y="4069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8430768" y="4389120"/>
            <a:ext cx="777240" cy="77724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31" name="Image 5" descr="./deck_icons/us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7306" y="4575658"/>
            <a:ext cx="404165" cy="404165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390888" y="4343400"/>
            <a:ext cx="21671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2.5M+</a:t>
            </a:r>
            <a:endParaRPr lang="en-US" sz="3200" dirty="0"/>
          </a:p>
        </p:txBody>
      </p:sp>
      <p:sp>
        <p:nvSpPr>
          <p:cNvPr id="33" name="Text 25"/>
          <p:cNvSpPr/>
          <p:nvPr/>
        </p:nvSpPr>
        <p:spPr>
          <a:xfrm>
            <a:off x="8430768" y="5303520"/>
            <a:ext cx="29900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Потенц. пользователей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Финансовая модель — 4 источника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1956816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./deck_icon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743" y="2092879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8745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1.  </a:t>
            </a:r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Премиум-аккаунты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45920" y="22402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· Pro $30/мес · Enterprise $100/мес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149840" y="187452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66%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640080" y="2907792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868680" y="3127248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2" name="Image 1" descr="./deck_icons/ey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743" y="3263311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45920" y="3044952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2.  </a:t>
            </a:r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Контекстная реклама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645920" y="341071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$2–5 CPM × 1M показов = $2–5K/мес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0149840" y="3044952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E7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18%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640080" y="4078224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868680" y="429768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8" name="Image 2" descr="./deck_icons/s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743" y="4433743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4215384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3.  </a:t>
            </a:r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Спонсорские объявления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645920" y="458114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$500–5K/мес от крупных учреждений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10149840" y="4215384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E7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9%</a:t>
            </a:r>
            <a:endParaRPr lang="en-US" sz="2600" dirty="0"/>
          </a:p>
        </p:txBody>
      </p:sp>
      <p:sp>
        <p:nvSpPr>
          <p:cNvPr id="22" name="Shape 17"/>
          <p:cNvSpPr/>
          <p:nvPr/>
        </p:nvSpPr>
        <p:spPr>
          <a:xfrm>
            <a:off x="640080" y="5248656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868680" y="546811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4" name="Image 3" descr="./deck_icons/handshak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743" y="5604175"/>
            <a:ext cx="294803" cy="29480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645920" y="5385816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4.  </a:t>
            </a:r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и API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1645920" y="5751576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Партнёры, НКО: $10K+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10149840" y="5385816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</a:t>
            </a:r>
            <a:endParaRPr lang="en-US" sz="2600" dirty="0"/>
          </a:p>
        </p:txBody>
      </p:sp>
      <p:sp>
        <p:nvSpPr>
          <p:cNvPr id="28" name="Text 22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Финансовый прогноз · год 1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дохода по кварталам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92024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011680"/>
            <a:ext cx="37947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5400000">
              <a:srgbClr val="999999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7772400" y="2011680"/>
            <a:ext cx="128016" cy="1051560"/>
          </a:xfrm>
          <a:prstGeom prst="roundRect">
            <a:avLst>
              <a:gd name="adj" fmla="val 14286"/>
            </a:avLst>
          </a:prstGeom>
          <a:solidFill>
            <a:srgbClr val="2D7D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046720" y="21488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ГОДОВОЙ ДОХОД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46720" y="239572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$136K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7772400" y="3291840"/>
            <a:ext cx="37947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5400000">
              <a:srgbClr val="999999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7772400" y="3291840"/>
            <a:ext cx="128016" cy="1051560"/>
          </a:xfrm>
          <a:prstGeom prst="roundRect">
            <a:avLst>
              <a:gd name="adj" fmla="val 14286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046720" y="34290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ОКУПАЕМОСТЬ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046720" y="367588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18–24 мес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7772400" y="4572000"/>
            <a:ext cx="37947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5400000">
              <a:srgbClr val="999999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7772400" y="4572000"/>
            <a:ext cx="128016" cy="1051560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046720" y="47091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 ГОД 2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046720" y="495604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$400K+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к концу года 1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05740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6" name="Image 0" descr="./deck_icon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22110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7568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15 000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914400" y="335584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ежедневные пользователи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98264" y="1783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672584" y="205740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2" name="Image 1" descr="./deck_icons/b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203" y="221101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49824" y="207568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672584" y="274320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80 000</a:t>
            </a:r>
            <a:endParaRPr lang="en-US" sz="3600" dirty="0"/>
          </a:p>
        </p:txBody>
      </p:sp>
      <p:sp>
        <p:nvSpPr>
          <p:cNvPr id="15" name="Text 11"/>
          <p:cNvSpPr/>
          <p:nvPr/>
        </p:nvSpPr>
        <p:spPr>
          <a:xfrm>
            <a:off x="4672584" y="335584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ежемесячные пользователи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56448" y="178308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8430768" y="205740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18" name="Image 2" descr="./deck_icons/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4387" y="2211019"/>
            <a:ext cx="332842" cy="33284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208008" y="207568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Учреждения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430768" y="274320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2 000+</a:t>
            </a:r>
            <a:endParaRPr lang="en-US" sz="3600" dirty="0"/>
          </a:p>
        </p:txBody>
      </p:sp>
      <p:sp>
        <p:nvSpPr>
          <p:cNvPr id="21" name="Text 16"/>
          <p:cNvSpPr/>
          <p:nvPr/>
        </p:nvSpPr>
        <p:spPr>
          <a:xfrm>
            <a:off x="8430768" y="335584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активных на платформе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40080" y="402336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914400" y="429768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24" name="Image 3" descr="./deck_icons/s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019" y="4451299"/>
            <a:ext cx="332842" cy="33284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691640" y="431596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Отзывов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914400" y="498348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2 000+</a:t>
            </a:r>
            <a:endParaRPr lang="en-US" sz="3600" dirty="0"/>
          </a:p>
        </p:txBody>
      </p:sp>
      <p:sp>
        <p:nvSpPr>
          <p:cNvPr id="27" name="Text 21"/>
          <p:cNvSpPr/>
          <p:nvPr/>
        </p:nvSpPr>
        <p:spPr>
          <a:xfrm>
            <a:off x="914400" y="559612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опубликовано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4398264" y="402336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9" name="Shape 23"/>
          <p:cNvSpPr/>
          <p:nvPr/>
        </p:nvSpPr>
        <p:spPr>
          <a:xfrm>
            <a:off x="4672584" y="429768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30" name="Image 4" descr="./deck_icons/aw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203" y="4451299"/>
            <a:ext cx="332842" cy="33284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449824" y="431596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</a:t>
            </a:r>
            <a:endParaRPr lang="en-US" sz="1300" dirty="0"/>
          </a:p>
        </p:txBody>
      </p:sp>
      <p:sp>
        <p:nvSpPr>
          <p:cNvPr id="32" name="Text 25"/>
          <p:cNvSpPr/>
          <p:nvPr/>
        </p:nvSpPr>
        <p:spPr>
          <a:xfrm>
            <a:off x="4672584" y="498348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4.3★</a:t>
            </a:r>
            <a:endParaRPr lang="en-US" sz="3600" dirty="0"/>
          </a:p>
        </p:txBody>
      </p:sp>
      <p:sp>
        <p:nvSpPr>
          <p:cNvPr id="33" name="Text 26"/>
          <p:cNvSpPr/>
          <p:nvPr/>
        </p:nvSpPr>
        <p:spPr>
          <a:xfrm>
            <a:off x="4672584" y="559612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 по платформе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156448" y="4023360"/>
            <a:ext cx="3538728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35" name="Shape 28"/>
          <p:cNvSpPr/>
          <p:nvPr/>
        </p:nvSpPr>
        <p:spPr>
          <a:xfrm>
            <a:off x="8430768" y="4297680"/>
            <a:ext cx="640080" cy="640080"/>
          </a:xfrm>
          <a:prstGeom prst="ellipse">
            <a:avLst/>
          </a:prstGeom>
          <a:solidFill>
            <a:srgbClr val="F2F4F7"/>
          </a:solidFill>
          <a:ln/>
        </p:spPr>
        <p:txBody>
          <a:bodyPr/>
          <a:p/>
        </p:txBody>
      </p:sp>
      <p:pic>
        <p:nvPicPr>
          <p:cNvPr id="36" name="Image 5" descr="./deck_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4387" y="4451299"/>
            <a:ext cx="332842" cy="33284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9208008" y="4315968"/>
            <a:ext cx="2350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Верификация</a:t>
            </a:r>
            <a:endParaRPr lang="en-US" sz="1300" dirty="0"/>
          </a:p>
        </p:txBody>
      </p:sp>
      <p:sp>
        <p:nvSpPr>
          <p:cNvPr id="38" name="Text 30"/>
          <p:cNvSpPr/>
          <p:nvPr/>
        </p:nvSpPr>
        <p:spPr>
          <a:xfrm>
            <a:off x="8430768" y="4983480"/>
            <a:ext cx="2990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600" dirty="0"/>
          </a:p>
        </p:txBody>
      </p:sp>
      <p:sp>
        <p:nvSpPr>
          <p:cNvPr id="39" name="Text 31"/>
          <p:cNvSpPr/>
          <p:nvPr/>
        </p:nvSpPr>
        <p:spPr>
          <a:xfrm>
            <a:off x="8430768" y="5596128"/>
            <a:ext cx="29900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проверенных учреждений</a:t>
            </a:r>
            <a:endParaRPr lang="en-US" sz="1100" dirty="0"/>
          </a:p>
        </p:txBody>
      </p:sp>
      <p:sp>
        <p:nvSpPr>
          <p:cNvPr id="40" name="Text 32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Дорожная карта · 12 месяцев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623060" y="1783080"/>
            <a:ext cx="731520" cy="731520"/>
          </a:xfrm>
          <a:prstGeom prst="ellipse">
            <a:avLst/>
          </a:prstGeom>
          <a:solidFill>
            <a:srgbClr val="1B3A5C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888888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623060" y="18105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31546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Мес. 1–3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3657600"/>
            <a:ext cx="178308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84048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Каталог, профили, отзывы, сравнение, чат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519379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5212080"/>
            <a:ext cx="2331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школ · 1K DAU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557016" y="210312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39996" y="1783080"/>
            <a:ext cx="731520" cy="731520"/>
          </a:xfrm>
          <a:prstGeom prst="ellipse">
            <a:avLst/>
          </a:prstGeom>
          <a:solidFill>
            <a:srgbClr val="2E7D9A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888888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39996" y="18105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739896" y="26517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739896" y="31546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Мес. 4–6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014216" y="3657600"/>
            <a:ext cx="178308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785616" y="384048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метрик, аналитика, премиум-аккаунты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31336" y="519379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739896" y="5212080"/>
            <a:ext cx="2331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школ · 5K DAU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73952" y="210312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456932" y="1783080"/>
            <a:ext cx="731520" cy="731520"/>
          </a:xfrm>
          <a:prstGeom prst="ellipse">
            <a:avLst/>
          </a:prstGeom>
          <a:solidFill>
            <a:srgbClr val="1B3A5C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888888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456932" y="18105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656832" y="26517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Волна 2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6656832" y="31546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Мес. 7–9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931152" y="3657600"/>
            <a:ext cx="178308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702552" y="384048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Вакансии, приложение, платежи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748272" y="519379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656832" y="5212080"/>
            <a:ext cx="2331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1.5K школ · 10K DAU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390888" y="210312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63500" dist="25400" dir="5400000">
              <a:srgbClr val="999999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0373868" y="1783080"/>
            <a:ext cx="731520" cy="731520"/>
          </a:xfrm>
          <a:prstGeom prst="ellipse">
            <a:avLst/>
          </a:prstGeom>
          <a:solidFill>
            <a:srgbClr val="2E7D9A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5400000">
              <a:srgbClr val="888888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0373868" y="181051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9573768" y="26517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9573768" y="31546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Мес. 10–12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848088" y="3657600"/>
            <a:ext cx="1783080" cy="0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619488" y="384048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Публичный API для партнёров, новые города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665208" y="519379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9573768" y="5212080"/>
            <a:ext cx="2331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2K школ · 15K DAU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Фокус MVP: что откладываем и почему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риск — пытаться сделать всё сразу. Мы сознательно откладываем дорогие надстройки до запуска основного.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67528" cy="1828800"/>
          </a:xfrm>
          <a:prstGeom prst="roundRect">
            <a:avLst>
              <a:gd name="adj" fmla="val 4500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4231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7" name="Image 0" descr="./deck_icons/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965" y="2598725"/>
            <a:ext cx="380390" cy="38039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2441448"/>
            <a:ext cx="3995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</a:rPr>
              <a:t>GPS-трекинг развозки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</a:rPr>
              <a:t>Вторая волна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60120" y="3200400"/>
            <a:ext cx="47274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Нужно оборудование у школ; развозку часто организуют сами родители — нечего отслеживать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72784" y="2148840"/>
            <a:ext cx="5367528" cy="1828800"/>
          </a:xfrm>
          <a:prstGeom prst="roundRect">
            <a:avLst>
              <a:gd name="adj" fmla="val 4500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547104" y="24231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2" name="Image 1" descr="./deck_icons/foo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669" y="2598725"/>
            <a:ext cx="380390" cy="38039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61504" y="2441448"/>
            <a:ext cx="3995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</a:rPr>
              <a:t>Меню и оплата питания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</a:rPr>
              <a:t>Вторая волна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592824" y="3200400"/>
            <a:ext cx="47274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Внутренняя ответственность школы; требует регулярного обновления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206240"/>
            <a:ext cx="5367528" cy="1828800"/>
          </a:xfrm>
          <a:prstGeom prst="roundRect">
            <a:avLst>
              <a:gd name="adj" fmla="val 4500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914400" y="4480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7" name="Image 2" descr="./deck_icons/briefc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965" y="4656125"/>
            <a:ext cx="380390" cy="38039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828800" y="4498848"/>
            <a:ext cx="3995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</a:rPr>
              <a:t>CV-база соискателей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</a:rPr>
              <a:t>Вторая волна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960120" y="5257800"/>
            <a:ext cx="47274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Обратный поиск учреждениями — отдельный модуль, откладываем до роста базы соискателей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272784" y="4206240"/>
            <a:ext cx="5367528" cy="1828800"/>
          </a:xfrm>
          <a:prstGeom prst="roundRect">
            <a:avLst>
              <a:gd name="adj" fmla="val 4500"/>
            </a:avLst>
          </a:prstGeom>
          <a:solidFill>
            <a:srgbClr val="F2F4F7"/>
          </a:solidFill>
          <a:ln w="9525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6547104" y="4480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2" name="Image 3" descr="./deck_icons/pho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69" y="4656125"/>
            <a:ext cx="380390" cy="38039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61504" y="4498848"/>
            <a:ext cx="3995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</a:rPr>
              <a:t>Нативные приложения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</a:rPr>
              <a:t>Вторая волна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6592824" y="5257800"/>
            <a:ext cx="47274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закрывает потребности MVP; нативная разработка дороже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Риски и стратегии смягчения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837944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./deck_icons/z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2" y="1969618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73736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Холодный старт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852160" y="1874520"/>
            <a:ext cx="0" cy="475488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989320" y="1691640"/>
            <a:ext cx="365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46520" y="1691640"/>
            <a:ext cx="4846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PR, партнёрства, влиятельные люди, реферальная программа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2642616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841248" y="27889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3" name="Image 1" descr="./deck_icons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922" y="292059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00200" y="2688336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Школы не заполняют профиль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852160" y="2825496"/>
            <a:ext cx="0" cy="475488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5989320" y="2642616"/>
            <a:ext cx="365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6446520" y="2642616"/>
            <a:ext cx="4846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Вручную заполним первые 100 школ + бесплатный премиум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40080" y="3593592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841248" y="3739896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0" name="Image 2" descr="./deck_icons/gl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922" y="3871570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00200" y="3639312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Конкуренция Google/Яндекс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852160" y="3776472"/>
            <a:ext cx="0" cy="475488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3" name="Text 18"/>
          <p:cNvSpPr/>
          <p:nvPr/>
        </p:nvSpPr>
        <p:spPr>
          <a:xfrm>
            <a:off x="5989320" y="3593592"/>
            <a:ext cx="365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6446520" y="3593592"/>
            <a:ext cx="4846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Специализация + глубина данных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640080" y="4544568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841248" y="46908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7" name="Image 3" descr="./deck_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2" y="4822546"/>
            <a:ext cx="285293" cy="285293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600200" y="4590288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Дорогая модерация спама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5852160" y="4727448"/>
            <a:ext cx="0" cy="475488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0" name="Text 24"/>
          <p:cNvSpPr/>
          <p:nvPr/>
        </p:nvSpPr>
        <p:spPr>
          <a:xfrm>
            <a:off x="5989320" y="4544568"/>
            <a:ext cx="365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Text 25"/>
          <p:cNvSpPr/>
          <p:nvPr/>
        </p:nvSpPr>
        <p:spPr>
          <a:xfrm>
            <a:off x="6446520" y="4544568"/>
            <a:ext cx="4846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AI-фильтры + волонтёры + система репутации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40080" y="5495544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F2F4F7"/>
          </a:solidFill>
          <a:ln w="635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3" name="Shape 27"/>
          <p:cNvSpPr/>
          <p:nvPr/>
        </p:nvSpPr>
        <p:spPr>
          <a:xfrm>
            <a:off x="841248" y="56418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4" name="Image 4" descr="./deck_icons/wif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2922" y="5773522"/>
            <a:ext cx="285293" cy="285293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600200" y="5541264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Нестабильный интернет</a:t>
            </a:r>
            <a:endParaRPr lang="en-US" sz="1500" dirty="0"/>
          </a:p>
        </p:txBody>
      </p:sp>
      <p:sp>
        <p:nvSpPr>
          <p:cNvPr id="36" name="Shape 29"/>
          <p:cNvSpPr/>
          <p:nvPr/>
        </p:nvSpPr>
        <p:spPr>
          <a:xfrm>
            <a:off x="5852160" y="5678424"/>
            <a:ext cx="0" cy="475488"/>
          </a:xfrm>
          <a:prstGeom prst="line">
            <a:avLst/>
          </a:prstGeom>
          <a:noFill/>
          <a:ln w="12700">
            <a:solidFill>
              <a:srgbClr val="D5DCE4"/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/>
          <p:nvPr/>
        </p:nvSpPr>
        <p:spPr>
          <a:xfrm>
            <a:off x="5989320" y="5495544"/>
            <a:ext cx="3657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8" name="Text 31"/>
          <p:cNvSpPr/>
          <p:nvPr/>
        </p:nvSpPr>
        <p:spPr>
          <a:xfrm>
            <a:off x="6446520" y="5495544"/>
            <a:ext cx="48463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+ офлайн-режим + сжатие фото + SMS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40" name="Text 33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Видение на 5 лет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554480" y="5760720"/>
            <a:ext cx="260604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dash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60520" y="4800600"/>
            <a:ext cx="260604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dash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766560" y="3840480"/>
            <a:ext cx="260604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dash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97280" y="493776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097280" y="4937760"/>
            <a:ext cx="2331720" cy="502920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097280" y="5212080"/>
            <a:ext cx="2331720" cy="22860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498348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 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55321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Таджикистан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34440" y="5961888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15K DAU · 2K школ · $136K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3320" y="397764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703320" y="3977640"/>
            <a:ext cx="2331720" cy="502920"/>
          </a:xfrm>
          <a:prstGeom prst="roundRect">
            <a:avLst>
              <a:gd name="adj" fmla="val 18182"/>
            </a:avLst>
          </a:prstGeom>
          <a:solidFill>
            <a:srgbClr val="2E7D9A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03320" y="4251960"/>
            <a:ext cx="2331720" cy="228600"/>
          </a:xfrm>
          <a:prstGeom prst="rect">
            <a:avLst/>
          </a:prstGeom>
          <a:solidFill>
            <a:srgbClr val="2E7D9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03320" y="402336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 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840480" y="457200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Узбекистан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840480" y="5001768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50K DAU · $400K MRR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301752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09360" y="3017520"/>
            <a:ext cx="2331720" cy="502920"/>
          </a:xfrm>
          <a:prstGeom prst="roundRect">
            <a:avLst>
              <a:gd name="adj" fmla="val 18182"/>
            </a:avLst>
          </a:prstGeom>
          <a:solidFill>
            <a:srgbClr val="2E7D9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309360" y="3291840"/>
            <a:ext cx="2331720" cy="228600"/>
          </a:xfrm>
          <a:prstGeom prst="rect">
            <a:avLst/>
          </a:prstGeom>
          <a:solidFill>
            <a:srgbClr val="2E7D9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309360" y="30632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 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46520" y="361188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Кыргызстан, Казахстан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46520" y="4041648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200K DAU · Series 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915400" y="205740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4"/>
            </a:solidFill>
            <a:prstDash val="solid"/>
          </a:ln>
          <a:effectLst>
            <a:outerShdw sx="100000" sy="100000" kx="0" ky="0" algn="bl" rotWithShape="0" blurRad="76200" dist="38100" dir="5400000">
              <a:srgbClr val="999999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915400" y="2057400"/>
            <a:ext cx="2331720" cy="502920"/>
          </a:xfrm>
          <a:prstGeom prst="roundRect">
            <a:avLst>
              <a:gd name="adj" fmla="val 18182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915400" y="2331720"/>
            <a:ext cx="2331720" cy="22860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915400" y="210312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 4–5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052560" y="2651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СНГ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052560" y="3081528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1M+ DAU · оценка и IPO — по факту роста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Давайте вместе улучшим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26060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образование </a:t>
            </a:r>
            <a:pPr algn="ctr" indent="0" marL="0">
              <a:buNone/>
            </a:pPr>
            <a:r>
              <a:rPr lang="en-US" sz="4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Таджикистана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029200" y="3611880"/>
            <a:ext cx="2103120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828800" y="3840480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Начинаем с честного MVP: поиск, сравнение и проверенные отзывы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743200" y="48006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$136K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743200" y="53949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доход год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83480" y="48006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18–24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983480" y="53949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мес. до окупаемости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223760" y="48006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1M+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223760" y="53949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 через 5 лет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EduHub Tajikistan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2026-08-05T08:14:44Z</dcterms:created>
  <dcterms:modified xsi:type="dcterms:W3CDTF">2026-08-05T08:14:44Z</dcterms:modified>
</cp:coreProperties>
</file>